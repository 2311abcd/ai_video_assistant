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6035040" y="-1097280"/>
            <a:ext cx="4572000" cy="4572000"/>
          </a:xfrm>
          <a:prstGeom prst="ellipse">
            <a:avLst/>
          </a:prstGeom>
          <a:solidFill>
            <a:srgbClr val="6D5BFF">
              <a:alpha val="30000"/>
            </a:srgbClr>
          </a:solidFill>
          <a:ln w="12700">
            <a:solidFill>
              <a:srgbClr val="6D5BFF">
                <a:alpha val="0"/>
              </a:srgbClr>
            </a:solidFill>
            <a:prstDash val="solid"/>
          </a:ln>
        </p:spPr>
      </p:sp>
      <p:sp>
        <p:nvSpPr>
          <p:cNvPr id="3" name="Shape 1"/>
          <p:cNvSpPr/>
          <p:nvPr/>
        </p:nvSpPr>
        <p:spPr>
          <a:xfrm>
            <a:off x="6949440" y="2926080"/>
            <a:ext cx="3657600" cy="3657600"/>
          </a:xfrm>
          <a:prstGeom prst="ellipse">
            <a:avLst/>
          </a:prstGeom>
          <a:solidFill>
            <a:srgbClr val="FF4D8D">
              <a:alpha val="22000"/>
            </a:srgbClr>
          </a:solidFill>
          <a:ln w="12700">
            <a:solidFill>
              <a:srgbClr val="FF4D8D">
                <a:alpha val="0"/>
              </a:srgbClr>
            </a:solidFill>
            <a:prstDash val="solid"/>
          </a:ln>
        </p:spPr>
      </p:sp>
      <p:sp>
        <p:nvSpPr>
          <p:cNvPr id="4" name="Text 2"/>
          <p:cNvSpPr txBox="1"/>
          <p:nvPr/>
        </p:nvSpPr>
        <p:spPr>
          <a:xfrm>
            <a:off x="640080" y="1097280"/>
            <a:ext cx="7315200" cy="320040"/>
          </a:xfrm>
          <a:prstGeom prst="rect">
            <a:avLst/>
          </a:prstGeom>
          <a:noFill/>
          <a:ln/>
        </p:spPr>
        <p:txBody>
          <a:bodyPr wrap="square" lIns="0" tIns="0" rIns="0" bIns="0" rtlCol="0" anchor="ctr"/>
          <a:lstStyle/>
          <a:p>
            <a:pPr indent="0" marL="0">
              <a:buNone/>
            </a:pPr>
            <a:r>
              <a:rPr lang="en-US" sz="1400" b="1" spc="400" kern="0" dirty="0">
                <a:solidFill>
                  <a:srgbClr val="FF4D8D"/>
                </a:solidFill>
                <a:latin typeface="Calibri" pitchFamily="34" charset="0"/>
                <a:ea typeface="Calibri" pitchFamily="34" charset="-122"/>
                <a:cs typeface="Calibri" pitchFamily="34" charset="-120"/>
              </a:rPr>
              <a:t>AI VIDEO ASSISTANT</a:t>
            </a:r>
            <a:endParaRPr lang="en-US" sz="1400" dirty="0"/>
          </a:p>
        </p:txBody>
      </p:sp>
      <p:sp>
        <p:nvSpPr>
          <p:cNvPr id="5" name="Text 3"/>
          <p:cNvSpPr txBox="1"/>
          <p:nvPr/>
        </p:nvSpPr>
        <p:spPr>
          <a:xfrm>
            <a:off x="640080" y="1463040"/>
            <a:ext cx="7315200" cy="1005840"/>
          </a:xfrm>
          <a:prstGeom prst="rect">
            <a:avLst/>
          </a:prstGeom>
          <a:noFill/>
          <a:ln/>
        </p:spPr>
        <p:txBody>
          <a:bodyPr wrap="square" lIns="0" tIns="0" rIns="0" bIns="0" rtlCol="0" anchor="ctr"/>
          <a:lstStyle/>
          <a:p>
            <a:pPr indent="0" marL="0">
              <a:buNone/>
            </a:pPr>
            <a:r>
              <a:rPr lang="en-US" sz="6000" b="1" dirty="0">
                <a:solidFill>
                  <a:srgbClr val="E8ECF8"/>
                </a:solidFill>
                <a:latin typeface="Georgia" pitchFamily="34" charset="0"/>
                <a:ea typeface="Georgia" pitchFamily="34" charset="-122"/>
                <a:cs typeface="Georgia" pitchFamily="34" charset="-120"/>
              </a:rPr>
              <a:t>VidMind</a:t>
            </a:r>
            <a:endParaRPr lang="en-US" sz="6000" dirty="0"/>
          </a:p>
        </p:txBody>
      </p:sp>
      <p:sp>
        <p:nvSpPr>
          <p:cNvPr id="6" name="Text 4"/>
          <p:cNvSpPr txBox="1"/>
          <p:nvPr/>
        </p:nvSpPr>
        <p:spPr>
          <a:xfrm>
            <a:off x="640080" y="2514600"/>
            <a:ext cx="7315200" cy="548640"/>
          </a:xfrm>
          <a:prstGeom prst="rect">
            <a:avLst/>
          </a:prstGeom>
          <a:noFill/>
          <a:ln/>
        </p:spPr>
        <p:txBody>
          <a:bodyPr wrap="square" lIns="0" tIns="0" rIns="0" bIns="0" rtlCol="0" anchor="ctr"/>
          <a:lstStyle/>
          <a:p>
            <a:pPr indent="0" marL="0">
              <a:buNone/>
            </a:pPr>
            <a:r>
              <a:rPr lang="en-US" sz="2800" i="1" dirty="0">
                <a:solidFill>
                  <a:srgbClr val="E8ECF8"/>
                </a:solidFill>
                <a:latin typeface="Georgia" pitchFamily="34" charset="0"/>
                <a:ea typeface="Georgia" pitchFamily="34" charset="-122"/>
                <a:cs typeface="Georgia" pitchFamily="34" charset="-120"/>
              </a:rPr>
              <a:t>Watch less. </a:t>
            </a:r>
            <a:pPr indent="0" marL="0">
              <a:buNone/>
            </a:pPr>
            <a:r>
              <a:rPr lang="en-US" sz="2800" i="1" dirty="0">
                <a:solidFill>
                  <a:srgbClr val="FF9B54"/>
                </a:solidFill>
                <a:latin typeface="Georgia" pitchFamily="34" charset="0"/>
                <a:ea typeface="Georgia" pitchFamily="34" charset="-122"/>
                <a:cs typeface="Georgia" pitchFamily="34" charset="-120"/>
              </a:rPr>
              <a:t>Know more.</a:t>
            </a:r>
            <a:endParaRPr lang="en-US" sz="2800" dirty="0"/>
          </a:p>
        </p:txBody>
      </p:sp>
      <p:sp>
        <p:nvSpPr>
          <p:cNvPr id="7" name="Text 5"/>
          <p:cNvSpPr txBox="1"/>
          <p:nvPr/>
        </p:nvSpPr>
        <p:spPr>
          <a:xfrm>
            <a:off x="640080" y="3291840"/>
            <a:ext cx="5943600" cy="548640"/>
          </a:xfrm>
          <a:prstGeom prst="rect">
            <a:avLst/>
          </a:prstGeom>
          <a:noFill/>
          <a:ln/>
        </p:spPr>
        <p:txBody>
          <a:bodyPr wrap="square" lIns="0" tIns="0" rIns="0" bIns="0" rtlCol="0" anchor="ctr"/>
          <a:lstStyle/>
          <a:p>
            <a:pPr indent="0" marL="0">
              <a:buNone/>
            </a:pPr>
            <a:r>
              <a:rPr lang="en-US" sz="1600" dirty="0">
                <a:solidFill>
                  <a:srgbClr val="9AA3C0"/>
                </a:solidFill>
                <a:latin typeface="Calibri" pitchFamily="34" charset="0"/>
                <a:ea typeface="Calibri" pitchFamily="34" charset="-122"/>
                <a:cs typeface="Calibri" pitchFamily="34" charset="-120"/>
              </a:rPr>
              <a:t>Turn any video into a transcript, summary, action items and a chatbot.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D5BFF"/>
          </a:solidFill>
          <a:ln w="12700">
            <a:solidFill>
              <a:srgbClr val="6D5BFF"/>
            </a:solidFill>
            <a:prstDash val="solid"/>
          </a:ln>
        </p:spPr>
      </p:sp>
      <p:sp>
        <p:nvSpPr>
          <p:cNvPr id="3" name="Text 1"/>
          <p:cNvSpPr txBox="1"/>
          <p:nvPr/>
        </p:nvSpPr>
        <p:spPr>
          <a:xfrm>
            <a:off x="548640" y="320040"/>
            <a:ext cx="8046720" cy="274320"/>
          </a:xfrm>
          <a:prstGeom prst="rect">
            <a:avLst/>
          </a:prstGeom>
          <a:noFill/>
          <a:ln/>
        </p:spPr>
        <p:txBody>
          <a:bodyPr wrap="square" lIns="0" tIns="0" rIns="0" bIns="0" rtlCol="0" anchor="ctr"/>
          <a:lstStyle/>
          <a:p>
            <a:pPr indent="0" marL="0">
              <a:buNone/>
            </a:pPr>
            <a:r>
              <a:rPr lang="en-US" sz="1200" b="1" spc="300" kern="0" dirty="0">
                <a:solidFill>
                  <a:srgbClr val="FF4D8D"/>
                </a:solidFill>
                <a:latin typeface="Calibri" pitchFamily="34" charset="0"/>
                <a:ea typeface="Calibri" pitchFamily="34" charset="-122"/>
                <a:cs typeface="Calibri" pitchFamily="34" charset="-120"/>
              </a:rPr>
              <a:t>THE IDEA</a:t>
            </a:r>
            <a:endParaRPr lang="en-US" sz="1200" dirty="0"/>
          </a:p>
        </p:txBody>
      </p:sp>
      <p:sp>
        <p:nvSpPr>
          <p:cNvPr id="4" name="Text 2"/>
          <p:cNvSpPr txBox="1"/>
          <p:nvPr/>
        </p:nvSpPr>
        <p:spPr>
          <a:xfrm>
            <a:off x="548640" y="594360"/>
            <a:ext cx="8046720" cy="640080"/>
          </a:xfrm>
          <a:prstGeom prst="rect">
            <a:avLst/>
          </a:prstGeom>
          <a:noFill/>
          <a:ln/>
        </p:spPr>
        <p:txBody>
          <a:bodyPr wrap="square" lIns="0" tIns="0" rIns="0" bIns="0" rtlCol="0" anchor="ctr"/>
          <a:lstStyle/>
          <a:p>
            <a:pPr indent="0" marL="0">
              <a:buNone/>
            </a:pPr>
            <a:r>
              <a:rPr lang="en-US" sz="3000" b="1" dirty="0">
                <a:solidFill>
                  <a:srgbClr val="E8ECF8"/>
                </a:solidFill>
                <a:latin typeface="Georgia" pitchFamily="34" charset="0"/>
                <a:ea typeface="Georgia" pitchFamily="34" charset="-122"/>
                <a:cs typeface="Georgia" pitchFamily="34" charset="-120"/>
              </a:rPr>
              <a:t>Why VidMind?</a:t>
            </a:r>
            <a:endParaRPr lang="en-US" sz="3000" dirty="0"/>
          </a:p>
        </p:txBody>
      </p:sp>
      <p:sp>
        <p:nvSpPr>
          <p:cNvPr id="5" name="Shape 3"/>
          <p:cNvSpPr/>
          <p:nvPr/>
        </p:nvSpPr>
        <p:spPr>
          <a:xfrm>
            <a:off x="548640" y="1463040"/>
            <a:ext cx="3931920" cy="2926080"/>
          </a:xfrm>
          <a:prstGeom prst="roundRect">
            <a:avLst>
              <a:gd name="adj" fmla="val 3125"/>
            </a:avLst>
          </a:prstGeom>
          <a:solidFill>
            <a:srgbClr val="151B33"/>
          </a:solidFill>
          <a:ln w="12700">
            <a:solidFill>
              <a:srgbClr val="262E52"/>
            </a:solidFill>
            <a:prstDash val="solid"/>
          </a:ln>
        </p:spPr>
      </p:sp>
      <p:sp>
        <p:nvSpPr>
          <p:cNvPr id="6" name="Shape 4"/>
          <p:cNvSpPr/>
          <p:nvPr/>
        </p:nvSpPr>
        <p:spPr>
          <a:xfrm>
            <a:off x="731520" y="1645920"/>
            <a:ext cx="457200" cy="54864"/>
          </a:xfrm>
          <a:prstGeom prst="rect">
            <a:avLst/>
          </a:prstGeom>
          <a:solidFill>
            <a:srgbClr val="FF4D8D"/>
          </a:solidFill>
          <a:ln w="12700">
            <a:solidFill>
              <a:srgbClr val="FF4D8D"/>
            </a:solidFill>
            <a:prstDash val="solid"/>
          </a:ln>
        </p:spPr>
      </p:sp>
      <p:sp>
        <p:nvSpPr>
          <p:cNvPr id="7" name="Text 5"/>
          <p:cNvSpPr txBox="1"/>
          <p:nvPr/>
        </p:nvSpPr>
        <p:spPr>
          <a:xfrm>
            <a:off x="731520" y="1783080"/>
            <a:ext cx="3566160" cy="365760"/>
          </a:xfrm>
          <a:prstGeom prst="rect">
            <a:avLst/>
          </a:prstGeom>
          <a:noFill/>
          <a:ln/>
        </p:spPr>
        <p:txBody>
          <a:bodyPr wrap="square" lIns="0" tIns="0" rIns="0" bIns="0" rtlCol="0" anchor="ctr"/>
          <a:lstStyle/>
          <a:p>
            <a:pPr indent="0" marL="0">
              <a:buNone/>
            </a:pPr>
            <a:r>
              <a:rPr lang="en-US" sz="1600" b="1" dirty="0">
                <a:solidFill>
                  <a:srgbClr val="E8ECF8"/>
                </a:solidFill>
                <a:latin typeface="Georgia" pitchFamily="34" charset="0"/>
                <a:ea typeface="Georgia" pitchFamily="34" charset="-122"/>
                <a:cs typeface="Georgia" pitchFamily="34" charset="-120"/>
              </a:rPr>
              <a:t>The problem</a:t>
            </a:r>
            <a:endParaRPr lang="en-US" sz="1600" dirty="0"/>
          </a:p>
        </p:txBody>
      </p:sp>
      <p:sp>
        <p:nvSpPr>
          <p:cNvPr id="8" name="Text 6"/>
          <p:cNvSpPr txBox="1"/>
          <p:nvPr/>
        </p:nvSpPr>
        <p:spPr>
          <a:xfrm>
            <a:off x="731520" y="2194560"/>
            <a:ext cx="3566160" cy="2057400"/>
          </a:xfrm>
          <a:prstGeom prst="rect">
            <a:avLst/>
          </a:prstGeom>
          <a:noFill/>
          <a:ln/>
        </p:spPr>
        <p:txBody>
          <a:bodyPr wrap="square" lIns="0" tIns="0" rIns="0" bIns="0" rtlCol="0" anchor="t"/>
          <a:lstStyle/>
          <a:p>
            <a:pPr indent="0" marL="0">
              <a:buNone/>
            </a:pPr>
            <a:r>
              <a:rPr lang="en-US" sz="1600" dirty="0">
                <a:solidFill>
                  <a:srgbClr val="9AA3C0"/>
                </a:solidFill>
                <a:latin typeface="Calibri" pitchFamily="34" charset="0"/>
                <a:ea typeface="Calibri" pitchFamily="34" charset="-122"/>
                <a:cs typeface="Calibri" pitchFamily="34" charset="-120"/>
              </a:rPr>
              <a:t>Meetings, lectures and long videos hide key points. Re-watching takes hours, notes are incomplete, and finding one decision or deadline means scrubbing through the whole recording.</a:t>
            </a:r>
            <a:endParaRPr lang="en-US" sz="1600" dirty="0"/>
          </a:p>
        </p:txBody>
      </p:sp>
      <p:sp>
        <p:nvSpPr>
          <p:cNvPr id="9" name="Shape 7"/>
          <p:cNvSpPr/>
          <p:nvPr/>
        </p:nvSpPr>
        <p:spPr>
          <a:xfrm>
            <a:off x="4663440" y="1463040"/>
            <a:ext cx="3931920" cy="2926080"/>
          </a:xfrm>
          <a:prstGeom prst="roundRect">
            <a:avLst>
              <a:gd name="adj" fmla="val 3125"/>
            </a:avLst>
          </a:prstGeom>
          <a:solidFill>
            <a:srgbClr val="151B33"/>
          </a:solidFill>
          <a:ln w="12700">
            <a:solidFill>
              <a:srgbClr val="262E52"/>
            </a:solidFill>
            <a:prstDash val="solid"/>
          </a:ln>
        </p:spPr>
      </p:sp>
      <p:sp>
        <p:nvSpPr>
          <p:cNvPr id="10" name="Shape 8"/>
          <p:cNvSpPr/>
          <p:nvPr/>
        </p:nvSpPr>
        <p:spPr>
          <a:xfrm>
            <a:off x="4846320" y="1645920"/>
            <a:ext cx="457200" cy="54864"/>
          </a:xfrm>
          <a:prstGeom prst="rect">
            <a:avLst/>
          </a:prstGeom>
          <a:solidFill>
            <a:srgbClr val="4ADE9A"/>
          </a:solidFill>
          <a:ln w="12700">
            <a:solidFill>
              <a:srgbClr val="4ADE9A"/>
            </a:solidFill>
            <a:prstDash val="solid"/>
          </a:ln>
        </p:spPr>
      </p:sp>
      <p:sp>
        <p:nvSpPr>
          <p:cNvPr id="11" name="Text 9"/>
          <p:cNvSpPr txBox="1"/>
          <p:nvPr/>
        </p:nvSpPr>
        <p:spPr>
          <a:xfrm>
            <a:off x="4846320" y="1783080"/>
            <a:ext cx="3566160" cy="365760"/>
          </a:xfrm>
          <a:prstGeom prst="rect">
            <a:avLst/>
          </a:prstGeom>
          <a:noFill/>
          <a:ln/>
        </p:spPr>
        <p:txBody>
          <a:bodyPr wrap="square" lIns="0" tIns="0" rIns="0" bIns="0" rtlCol="0" anchor="ctr"/>
          <a:lstStyle/>
          <a:p>
            <a:pPr indent="0" marL="0">
              <a:buNone/>
            </a:pPr>
            <a:r>
              <a:rPr lang="en-US" sz="1600" b="1" dirty="0">
                <a:solidFill>
                  <a:srgbClr val="E8ECF8"/>
                </a:solidFill>
                <a:latin typeface="Georgia" pitchFamily="34" charset="0"/>
                <a:ea typeface="Georgia" pitchFamily="34" charset="-122"/>
                <a:cs typeface="Georgia" pitchFamily="34" charset="-120"/>
              </a:rPr>
              <a:t>The solution</a:t>
            </a:r>
            <a:endParaRPr lang="en-US" sz="1600" dirty="0"/>
          </a:p>
        </p:txBody>
      </p:sp>
      <p:sp>
        <p:nvSpPr>
          <p:cNvPr id="12" name="Text 10"/>
          <p:cNvSpPr txBox="1"/>
          <p:nvPr/>
        </p:nvSpPr>
        <p:spPr>
          <a:xfrm>
            <a:off x="4846320" y="2194560"/>
            <a:ext cx="3566160" cy="2057400"/>
          </a:xfrm>
          <a:prstGeom prst="rect">
            <a:avLst/>
          </a:prstGeom>
          <a:noFill/>
          <a:ln/>
        </p:spPr>
        <p:txBody>
          <a:bodyPr wrap="square" lIns="0" tIns="0" rIns="0" bIns="0" rtlCol="0" anchor="t"/>
          <a:lstStyle/>
          <a:p>
            <a:pPr indent="0" marL="0">
              <a:buNone/>
            </a:pPr>
            <a:r>
              <a:rPr lang="en-US" sz="1600" dirty="0">
                <a:solidFill>
                  <a:srgbClr val="9AA3C0"/>
                </a:solidFill>
                <a:latin typeface="Calibri" pitchFamily="34" charset="0"/>
                <a:ea typeface="Calibri" pitchFamily="34" charset="-122"/>
                <a:cs typeface="Calibri" pitchFamily="34" charset="-120"/>
              </a:rPr>
              <a:t>Paste a YouTube link or upload a file. VidMind transcribes it, writes a clean summary, pulls out action items, decisions and open questions, and lets you ask the video anything.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D5BFF"/>
          </a:solidFill>
          <a:ln w="12700">
            <a:solidFill>
              <a:srgbClr val="6D5BFF"/>
            </a:solidFill>
            <a:prstDash val="solid"/>
          </a:ln>
        </p:spPr>
      </p:sp>
      <p:sp>
        <p:nvSpPr>
          <p:cNvPr id="3" name="Text 1"/>
          <p:cNvSpPr txBox="1"/>
          <p:nvPr/>
        </p:nvSpPr>
        <p:spPr>
          <a:xfrm>
            <a:off x="548640" y="320040"/>
            <a:ext cx="8046720" cy="274320"/>
          </a:xfrm>
          <a:prstGeom prst="rect">
            <a:avLst/>
          </a:prstGeom>
          <a:noFill/>
          <a:ln/>
        </p:spPr>
        <p:txBody>
          <a:bodyPr wrap="square" lIns="0" tIns="0" rIns="0" bIns="0" rtlCol="0" anchor="ctr"/>
          <a:lstStyle/>
          <a:p>
            <a:pPr indent="0" marL="0">
              <a:buNone/>
            </a:pPr>
            <a:r>
              <a:rPr lang="en-US" sz="1200" b="1" spc="300" kern="0" dirty="0">
                <a:solidFill>
                  <a:srgbClr val="FF4D8D"/>
                </a:solidFill>
                <a:latin typeface="Calibri" pitchFamily="34" charset="0"/>
                <a:ea typeface="Calibri" pitchFamily="34" charset="-122"/>
                <a:cs typeface="Calibri" pitchFamily="34" charset="-120"/>
              </a:rPr>
              <a:t>FEATURES</a:t>
            </a:r>
            <a:endParaRPr lang="en-US" sz="1200" dirty="0"/>
          </a:p>
        </p:txBody>
      </p:sp>
      <p:sp>
        <p:nvSpPr>
          <p:cNvPr id="4" name="Text 2"/>
          <p:cNvSpPr txBox="1"/>
          <p:nvPr/>
        </p:nvSpPr>
        <p:spPr>
          <a:xfrm>
            <a:off x="548640" y="594360"/>
            <a:ext cx="8046720" cy="640080"/>
          </a:xfrm>
          <a:prstGeom prst="rect">
            <a:avLst/>
          </a:prstGeom>
          <a:noFill/>
          <a:ln/>
        </p:spPr>
        <p:txBody>
          <a:bodyPr wrap="square" lIns="0" tIns="0" rIns="0" bIns="0" rtlCol="0" anchor="ctr"/>
          <a:lstStyle/>
          <a:p>
            <a:pPr indent="0" marL="0">
              <a:buNone/>
            </a:pPr>
            <a:r>
              <a:rPr lang="en-US" sz="3000" b="1" dirty="0">
                <a:solidFill>
                  <a:srgbClr val="E8ECF8"/>
                </a:solidFill>
                <a:latin typeface="Georgia" pitchFamily="34" charset="0"/>
                <a:ea typeface="Georgia" pitchFamily="34" charset="-122"/>
                <a:cs typeface="Georgia" pitchFamily="34" charset="-120"/>
              </a:rPr>
              <a:t>What it can do</a:t>
            </a:r>
            <a:endParaRPr lang="en-US" sz="3000" dirty="0"/>
          </a:p>
        </p:txBody>
      </p:sp>
      <p:sp>
        <p:nvSpPr>
          <p:cNvPr id="5" name="Shape 3"/>
          <p:cNvSpPr/>
          <p:nvPr/>
        </p:nvSpPr>
        <p:spPr>
          <a:xfrm>
            <a:off x="548640" y="1463040"/>
            <a:ext cx="2606040" cy="1463040"/>
          </a:xfrm>
          <a:prstGeom prst="roundRect">
            <a:avLst>
              <a:gd name="adj" fmla="val 6250"/>
            </a:avLst>
          </a:prstGeom>
          <a:solidFill>
            <a:srgbClr val="151B33"/>
          </a:solidFill>
          <a:ln w="12700">
            <a:solidFill>
              <a:srgbClr val="262E52"/>
            </a:solidFill>
            <a:prstDash val="solid"/>
          </a:ln>
        </p:spPr>
      </p:sp>
      <p:sp>
        <p:nvSpPr>
          <p:cNvPr id="6" name="Shape 4"/>
          <p:cNvSpPr/>
          <p:nvPr/>
        </p:nvSpPr>
        <p:spPr>
          <a:xfrm>
            <a:off x="731520" y="1645920"/>
            <a:ext cx="457200" cy="54864"/>
          </a:xfrm>
          <a:prstGeom prst="rect">
            <a:avLst/>
          </a:prstGeom>
          <a:solidFill>
            <a:srgbClr val="6D5BFF"/>
          </a:solidFill>
          <a:ln w="12700">
            <a:solidFill>
              <a:srgbClr val="6D5BFF"/>
            </a:solidFill>
            <a:prstDash val="solid"/>
          </a:ln>
        </p:spPr>
      </p:sp>
      <p:sp>
        <p:nvSpPr>
          <p:cNvPr id="7" name="Text 5"/>
          <p:cNvSpPr txBox="1"/>
          <p:nvPr/>
        </p:nvSpPr>
        <p:spPr>
          <a:xfrm>
            <a:off x="731520" y="1783080"/>
            <a:ext cx="2240280" cy="365760"/>
          </a:xfrm>
          <a:prstGeom prst="rect">
            <a:avLst/>
          </a:prstGeom>
          <a:noFill/>
          <a:ln/>
        </p:spPr>
        <p:txBody>
          <a:bodyPr wrap="square" lIns="0" tIns="0" rIns="0" bIns="0" rtlCol="0" anchor="ctr"/>
          <a:lstStyle/>
          <a:p>
            <a:pPr indent="0" marL="0">
              <a:buNone/>
            </a:pPr>
            <a:r>
              <a:rPr lang="en-US" sz="1600" b="1" dirty="0">
                <a:solidFill>
                  <a:srgbClr val="E8ECF8"/>
                </a:solidFill>
                <a:latin typeface="Georgia" pitchFamily="34" charset="0"/>
                <a:ea typeface="Georgia" pitchFamily="34" charset="-122"/>
                <a:cs typeface="Georgia" pitchFamily="34" charset="-120"/>
              </a:rPr>
              <a:t>Transcribe</a:t>
            </a:r>
            <a:endParaRPr lang="en-US" sz="1600" dirty="0"/>
          </a:p>
        </p:txBody>
      </p:sp>
      <p:sp>
        <p:nvSpPr>
          <p:cNvPr id="8" name="Text 6"/>
          <p:cNvSpPr txBox="1"/>
          <p:nvPr/>
        </p:nvSpPr>
        <p:spPr>
          <a:xfrm>
            <a:off x="731520" y="2194560"/>
            <a:ext cx="2240280" cy="594360"/>
          </a:xfrm>
          <a:prstGeom prst="rect">
            <a:avLst/>
          </a:prstGeom>
          <a:noFill/>
          <a:ln/>
        </p:spPr>
        <p:txBody>
          <a:bodyPr wrap="square" lIns="0" tIns="0" rIns="0" bIns="0" rtlCol="0" anchor="t"/>
          <a:lstStyle/>
          <a:p>
            <a:pPr indent="0" marL="0">
              <a:buNone/>
            </a:pPr>
            <a:r>
              <a:rPr lang="en-US" sz="1250" dirty="0">
                <a:solidFill>
                  <a:srgbClr val="9AA3C0"/>
                </a:solidFill>
                <a:latin typeface="Calibri" pitchFamily="34" charset="0"/>
                <a:ea typeface="Calibri" pitchFamily="34" charset="-122"/>
                <a:cs typeface="Calibri" pitchFamily="34" charset="-120"/>
              </a:rPr>
              <a:t>YouTube links or files (mp4, mkv, mov, webm, mp3, wav, m4a).</a:t>
            </a:r>
            <a:endParaRPr lang="en-US" sz="1250" dirty="0"/>
          </a:p>
        </p:txBody>
      </p:sp>
      <p:sp>
        <p:nvSpPr>
          <p:cNvPr id="9" name="Shape 7"/>
          <p:cNvSpPr/>
          <p:nvPr/>
        </p:nvSpPr>
        <p:spPr>
          <a:xfrm>
            <a:off x="3337560" y="1463040"/>
            <a:ext cx="2606040" cy="1463040"/>
          </a:xfrm>
          <a:prstGeom prst="roundRect">
            <a:avLst>
              <a:gd name="adj" fmla="val 6250"/>
            </a:avLst>
          </a:prstGeom>
          <a:solidFill>
            <a:srgbClr val="151B33"/>
          </a:solidFill>
          <a:ln w="12700">
            <a:solidFill>
              <a:srgbClr val="262E52"/>
            </a:solidFill>
            <a:prstDash val="solid"/>
          </a:ln>
        </p:spPr>
      </p:sp>
      <p:sp>
        <p:nvSpPr>
          <p:cNvPr id="10" name="Shape 8"/>
          <p:cNvSpPr/>
          <p:nvPr/>
        </p:nvSpPr>
        <p:spPr>
          <a:xfrm>
            <a:off x="3520440" y="1645920"/>
            <a:ext cx="457200" cy="54864"/>
          </a:xfrm>
          <a:prstGeom prst="rect">
            <a:avLst/>
          </a:prstGeom>
          <a:solidFill>
            <a:srgbClr val="3DD6F5"/>
          </a:solidFill>
          <a:ln w="12700">
            <a:solidFill>
              <a:srgbClr val="3DD6F5"/>
            </a:solidFill>
            <a:prstDash val="solid"/>
          </a:ln>
        </p:spPr>
      </p:sp>
      <p:sp>
        <p:nvSpPr>
          <p:cNvPr id="11" name="Text 9"/>
          <p:cNvSpPr txBox="1"/>
          <p:nvPr/>
        </p:nvSpPr>
        <p:spPr>
          <a:xfrm>
            <a:off x="3520440" y="1783080"/>
            <a:ext cx="2240280" cy="365760"/>
          </a:xfrm>
          <a:prstGeom prst="rect">
            <a:avLst/>
          </a:prstGeom>
          <a:noFill/>
          <a:ln/>
        </p:spPr>
        <p:txBody>
          <a:bodyPr wrap="square" lIns="0" tIns="0" rIns="0" bIns="0" rtlCol="0" anchor="ctr"/>
          <a:lstStyle/>
          <a:p>
            <a:pPr indent="0" marL="0">
              <a:buNone/>
            </a:pPr>
            <a:r>
              <a:rPr lang="en-US" sz="1600" b="1" dirty="0">
                <a:solidFill>
                  <a:srgbClr val="E8ECF8"/>
                </a:solidFill>
                <a:latin typeface="Georgia" pitchFamily="34" charset="0"/>
                <a:ea typeface="Georgia" pitchFamily="34" charset="-122"/>
                <a:cs typeface="Georgia" pitchFamily="34" charset="-120"/>
              </a:rPr>
              <a:t>English + Hinglish</a:t>
            </a:r>
            <a:endParaRPr lang="en-US" sz="1600" dirty="0"/>
          </a:p>
        </p:txBody>
      </p:sp>
      <p:sp>
        <p:nvSpPr>
          <p:cNvPr id="12" name="Text 10"/>
          <p:cNvSpPr txBox="1"/>
          <p:nvPr/>
        </p:nvSpPr>
        <p:spPr>
          <a:xfrm>
            <a:off x="3520440" y="2194560"/>
            <a:ext cx="2240280" cy="594360"/>
          </a:xfrm>
          <a:prstGeom prst="rect">
            <a:avLst/>
          </a:prstGeom>
          <a:noFill/>
          <a:ln/>
        </p:spPr>
        <p:txBody>
          <a:bodyPr wrap="square" lIns="0" tIns="0" rIns="0" bIns="0" rtlCol="0" anchor="t"/>
          <a:lstStyle/>
          <a:p>
            <a:pPr indent="0" marL="0">
              <a:buNone/>
            </a:pPr>
            <a:r>
              <a:rPr lang="en-US" sz="1250" dirty="0">
                <a:solidFill>
                  <a:srgbClr val="9AA3C0"/>
                </a:solidFill>
                <a:latin typeface="Calibri" pitchFamily="34" charset="0"/>
                <a:ea typeface="Calibri" pitchFamily="34" charset="-122"/>
                <a:cs typeface="Calibri" pitchFamily="34" charset="-120"/>
              </a:rPr>
              <a:t>Whisper for English, Sarvam AI for Hinglish.</a:t>
            </a:r>
            <a:endParaRPr lang="en-US" sz="1250" dirty="0"/>
          </a:p>
        </p:txBody>
      </p:sp>
      <p:sp>
        <p:nvSpPr>
          <p:cNvPr id="13" name="Shape 11"/>
          <p:cNvSpPr/>
          <p:nvPr/>
        </p:nvSpPr>
        <p:spPr>
          <a:xfrm>
            <a:off x="6126480" y="1463040"/>
            <a:ext cx="2606040" cy="1463040"/>
          </a:xfrm>
          <a:prstGeom prst="roundRect">
            <a:avLst>
              <a:gd name="adj" fmla="val 6250"/>
            </a:avLst>
          </a:prstGeom>
          <a:solidFill>
            <a:srgbClr val="151B33"/>
          </a:solidFill>
          <a:ln w="12700">
            <a:solidFill>
              <a:srgbClr val="262E52"/>
            </a:solidFill>
            <a:prstDash val="solid"/>
          </a:ln>
        </p:spPr>
      </p:sp>
      <p:sp>
        <p:nvSpPr>
          <p:cNvPr id="14" name="Shape 12"/>
          <p:cNvSpPr/>
          <p:nvPr/>
        </p:nvSpPr>
        <p:spPr>
          <a:xfrm>
            <a:off x="6309360" y="1645920"/>
            <a:ext cx="457200" cy="54864"/>
          </a:xfrm>
          <a:prstGeom prst="rect">
            <a:avLst/>
          </a:prstGeom>
          <a:solidFill>
            <a:srgbClr val="FF9B54"/>
          </a:solidFill>
          <a:ln w="12700">
            <a:solidFill>
              <a:srgbClr val="FF9B54"/>
            </a:solidFill>
            <a:prstDash val="solid"/>
          </a:ln>
        </p:spPr>
      </p:sp>
      <p:sp>
        <p:nvSpPr>
          <p:cNvPr id="15" name="Text 13"/>
          <p:cNvSpPr txBox="1"/>
          <p:nvPr/>
        </p:nvSpPr>
        <p:spPr>
          <a:xfrm>
            <a:off x="6309360" y="1783080"/>
            <a:ext cx="2240280" cy="365760"/>
          </a:xfrm>
          <a:prstGeom prst="rect">
            <a:avLst/>
          </a:prstGeom>
          <a:noFill/>
          <a:ln/>
        </p:spPr>
        <p:txBody>
          <a:bodyPr wrap="square" lIns="0" tIns="0" rIns="0" bIns="0" rtlCol="0" anchor="ctr"/>
          <a:lstStyle/>
          <a:p>
            <a:pPr indent="0" marL="0">
              <a:buNone/>
            </a:pPr>
            <a:r>
              <a:rPr lang="en-US" sz="1600" b="1" dirty="0">
                <a:solidFill>
                  <a:srgbClr val="E8ECF8"/>
                </a:solidFill>
                <a:latin typeface="Georgia" pitchFamily="34" charset="0"/>
                <a:ea typeface="Georgia" pitchFamily="34" charset="-122"/>
                <a:cs typeface="Georgia" pitchFamily="34" charset="-120"/>
              </a:rPr>
              <a:t>Summarize</a:t>
            </a:r>
            <a:endParaRPr lang="en-US" sz="1600" dirty="0"/>
          </a:p>
        </p:txBody>
      </p:sp>
      <p:sp>
        <p:nvSpPr>
          <p:cNvPr id="16" name="Text 14"/>
          <p:cNvSpPr txBox="1"/>
          <p:nvPr/>
        </p:nvSpPr>
        <p:spPr>
          <a:xfrm>
            <a:off x="6309360" y="2194560"/>
            <a:ext cx="2240280" cy="594360"/>
          </a:xfrm>
          <a:prstGeom prst="rect">
            <a:avLst/>
          </a:prstGeom>
          <a:noFill/>
          <a:ln/>
        </p:spPr>
        <p:txBody>
          <a:bodyPr wrap="square" lIns="0" tIns="0" rIns="0" bIns="0" rtlCol="0" anchor="t"/>
          <a:lstStyle/>
          <a:p>
            <a:pPr indent="0" marL="0">
              <a:buNone/>
            </a:pPr>
            <a:r>
              <a:rPr lang="en-US" sz="1250" dirty="0">
                <a:solidFill>
                  <a:srgbClr val="9AA3C0"/>
                </a:solidFill>
                <a:latin typeface="Calibri" pitchFamily="34" charset="0"/>
                <a:ea typeface="Calibri" pitchFamily="34" charset="-122"/>
                <a:cs typeface="Calibri" pitchFamily="34" charset="-120"/>
              </a:rPr>
              <a:t>Title and a bullet-point summary, even for long videos.</a:t>
            </a:r>
            <a:endParaRPr lang="en-US" sz="1250" dirty="0"/>
          </a:p>
        </p:txBody>
      </p:sp>
      <p:sp>
        <p:nvSpPr>
          <p:cNvPr id="17" name="Shape 15"/>
          <p:cNvSpPr/>
          <p:nvPr/>
        </p:nvSpPr>
        <p:spPr>
          <a:xfrm>
            <a:off x="548640" y="3108960"/>
            <a:ext cx="2606040" cy="1463040"/>
          </a:xfrm>
          <a:prstGeom prst="roundRect">
            <a:avLst>
              <a:gd name="adj" fmla="val 6250"/>
            </a:avLst>
          </a:prstGeom>
          <a:solidFill>
            <a:srgbClr val="151B33"/>
          </a:solidFill>
          <a:ln w="12700">
            <a:solidFill>
              <a:srgbClr val="262E52"/>
            </a:solidFill>
            <a:prstDash val="solid"/>
          </a:ln>
        </p:spPr>
      </p:sp>
      <p:sp>
        <p:nvSpPr>
          <p:cNvPr id="18" name="Shape 16"/>
          <p:cNvSpPr/>
          <p:nvPr/>
        </p:nvSpPr>
        <p:spPr>
          <a:xfrm>
            <a:off x="731520" y="3291840"/>
            <a:ext cx="457200" cy="54864"/>
          </a:xfrm>
          <a:prstGeom prst="rect">
            <a:avLst/>
          </a:prstGeom>
          <a:solidFill>
            <a:srgbClr val="4ADE9A"/>
          </a:solidFill>
          <a:ln w="12700">
            <a:solidFill>
              <a:srgbClr val="4ADE9A"/>
            </a:solidFill>
            <a:prstDash val="solid"/>
          </a:ln>
        </p:spPr>
      </p:sp>
      <p:sp>
        <p:nvSpPr>
          <p:cNvPr id="19" name="Text 17"/>
          <p:cNvSpPr txBox="1"/>
          <p:nvPr/>
        </p:nvSpPr>
        <p:spPr>
          <a:xfrm>
            <a:off x="731520" y="3429000"/>
            <a:ext cx="2240280" cy="365760"/>
          </a:xfrm>
          <a:prstGeom prst="rect">
            <a:avLst/>
          </a:prstGeom>
          <a:noFill/>
          <a:ln/>
        </p:spPr>
        <p:txBody>
          <a:bodyPr wrap="square" lIns="0" tIns="0" rIns="0" bIns="0" rtlCol="0" anchor="ctr"/>
          <a:lstStyle/>
          <a:p>
            <a:pPr indent="0" marL="0">
              <a:buNone/>
            </a:pPr>
            <a:r>
              <a:rPr lang="en-US" sz="1600" b="1" dirty="0">
                <a:solidFill>
                  <a:srgbClr val="E8ECF8"/>
                </a:solidFill>
                <a:latin typeface="Georgia" pitchFamily="34" charset="0"/>
                <a:ea typeface="Georgia" pitchFamily="34" charset="-122"/>
                <a:cs typeface="Georgia" pitchFamily="34" charset="-120"/>
              </a:rPr>
              <a:t>Extract</a:t>
            </a:r>
            <a:endParaRPr lang="en-US" sz="1600" dirty="0"/>
          </a:p>
        </p:txBody>
      </p:sp>
      <p:sp>
        <p:nvSpPr>
          <p:cNvPr id="20" name="Text 18"/>
          <p:cNvSpPr txBox="1"/>
          <p:nvPr/>
        </p:nvSpPr>
        <p:spPr>
          <a:xfrm>
            <a:off x="731520" y="3840480"/>
            <a:ext cx="2240280" cy="594360"/>
          </a:xfrm>
          <a:prstGeom prst="rect">
            <a:avLst/>
          </a:prstGeom>
          <a:noFill/>
          <a:ln/>
        </p:spPr>
        <p:txBody>
          <a:bodyPr wrap="square" lIns="0" tIns="0" rIns="0" bIns="0" rtlCol="0" anchor="t"/>
          <a:lstStyle/>
          <a:p>
            <a:pPr indent="0" marL="0">
              <a:buNone/>
            </a:pPr>
            <a:r>
              <a:rPr lang="en-US" sz="1250" dirty="0">
                <a:solidFill>
                  <a:srgbClr val="9AA3C0"/>
                </a:solidFill>
                <a:latin typeface="Calibri" pitchFamily="34" charset="0"/>
                <a:ea typeface="Calibri" pitchFamily="34" charset="-122"/>
                <a:cs typeface="Calibri" pitchFamily="34" charset="-120"/>
              </a:rPr>
              <a:t>Action items, key decisions and open questions.</a:t>
            </a:r>
            <a:endParaRPr lang="en-US" sz="1250" dirty="0"/>
          </a:p>
        </p:txBody>
      </p:sp>
      <p:sp>
        <p:nvSpPr>
          <p:cNvPr id="21" name="Shape 19"/>
          <p:cNvSpPr/>
          <p:nvPr/>
        </p:nvSpPr>
        <p:spPr>
          <a:xfrm>
            <a:off x="3337560" y="3108960"/>
            <a:ext cx="2606040" cy="1463040"/>
          </a:xfrm>
          <a:prstGeom prst="roundRect">
            <a:avLst>
              <a:gd name="adj" fmla="val 6250"/>
            </a:avLst>
          </a:prstGeom>
          <a:solidFill>
            <a:srgbClr val="151B33"/>
          </a:solidFill>
          <a:ln w="12700">
            <a:solidFill>
              <a:srgbClr val="262E52"/>
            </a:solidFill>
            <a:prstDash val="solid"/>
          </a:ln>
        </p:spPr>
      </p:sp>
      <p:sp>
        <p:nvSpPr>
          <p:cNvPr id="22" name="Shape 20"/>
          <p:cNvSpPr/>
          <p:nvPr/>
        </p:nvSpPr>
        <p:spPr>
          <a:xfrm>
            <a:off x="3520440" y="3291840"/>
            <a:ext cx="457200" cy="54864"/>
          </a:xfrm>
          <a:prstGeom prst="rect">
            <a:avLst/>
          </a:prstGeom>
          <a:solidFill>
            <a:srgbClr val="FF4D8D"/>
          </a:solidFill>
          <a:ln w="12700">
            <a:solidFill>
              <a:srgbClr val="FF4D8D"/>
            </a:solidFill>
            <a:prstDash val="solid"/>
          </a:ln>
        </p:spPr>
      </p:sp>
      <p:sp>
        <p:nvSpPr>
          <p:cNvPr id="23" name="Text 21"/>
          <p:cNvSpPr txBox="1"/>
          <p:nvPr/>
        </p:nvSpPr>
        <p:spPr>
          <a:xfrm>
            <a:off x="3520440" y="3429000"/>
            <a:ext cx="2240280" cy="365760"/>
          </a:xfrm>
          <a:prstGeom prst="rect">
            <a:avLst/>
          </a:prstGeom>
          <a:noFill/>
          <a:ln/>
        </p:spPr>
        <p:txBody>
          <a:bodyPr wrap="square" lIns="0" tIns="0" rIns="0" bIns="0" rtlCol="0" anchor="ctr"/>
          <a:lstStyle/>
          <a:p>
            <a:pPr indent="0" marL="0">
              <a:buNone/>
            </a:pPr>
            <a:r>
              <a:rPr lang="en-US" sz="1600" b="1" dirty="0">
                <a:solidFill>
                  <a:srgbClr val="E8ECF8"/>
                </a:solidFill>
                <a:latin typeface="Georgia" pitchFamily="34" charset="0"/>
                <a:ea typeface="Georgia" pitchFamily="34" charset="-122"/>
                <a:cs typeface="Georgia" pitchFamily="34" charset="-120"/>
              </a:rPr>
              <a:t>Chat</a:t>
            </a:r>
            <a:endParaRPr lang="en-US" sz="1600" dirty="0"/>
          </a:p>
        </p:txBody>
      </p:sp>
      <p:sp>
        <p:nvSpPr>
          <p:cNvPr id="24" name="Text 22"/>
          <p:cNvSpPr txBox="1"/>
          <p:nvPr/>
        </p:nvSpPr>
        <p:spPr>
          <a:xfrm>
            <a:off x="3520440" y="3840480"/>
            <a:ext cx="2240280" cy="594360"/>
          </a:xfrm>
          <a:prstGeom prst="rect">
            <a:avLst/>
          </a:prstGeom>
          <a:noFill/>
          <a:ln/>
        </p:spPr>
        <p:txBody>
          <a:bodyPr wrap="square" lIns="0" tIns="0" rIns="0" bIns="0" rtlCol="0" anchor="t"/>
          <a:lstStyle/>
          <a:p>
            <a:pPr indent="0" marL="0">
              <a:buNone/>
            </a:pPr>
            <a:r>
              <a:rPr lang="en-US" sz="1250" dirty="0">
                <a:solidFill>
                  <a:srgbClr val="9AA3C0"/>
                </a:solidFill>
                <a:latin typeface="Calibri" pitchFamily="34" charset="0"/>
                <a:ea typeface="Calibri" pitchFamily="34" charset="-122"/>
                <a:cs typeface="Calibri" pitchFamily="34" charset="-120"/>
              </a:rPr>
              <a:t>Ask follow-ups. Answers come only from the transcript.</a:t>
            </a:r>
            <a:endParaRPr lang="en-US" sz="1250" dirty="0"/>
          </a:p>
        </p:txBody>
      </p:sp>
      <p:sp>
        <p:nvSpPr>
          <p:cNvPr id="25" name="Shape 23"/>
          <p:cNvSpPr/>
          <p:nvPr/>
        </p:nvSpPr>
        <p:spPr>
          <a:xfrm>
            <a:off x="6126480" y="3108960"/>
            <a:ext cx="2606040" cy="1463040"/>
          </a:xfrm>
          <a:prstGeom prst="roundRect">
            <a:avLst>
              <a:gd name="adj" fmla="val 6250"/>
            </a:avLst>
          </a:prstGeom>
          <a:solidFill>
            <a:srgbClr val="151B33"/>
          </a:solidFill>
          <a:ln w="12700">
            <a:solidFill>
              <a:srgbClr val="262E52"/>
            </a:solidFill>
            <a:prstDash val="solid"/>
          </a:ln>
        </p:spPr>
      </p:sp>
      <p:sp>
        <p:nvSpPr>
          <p:cNvPr id="26" name="Shape 24"/>
          <p:cNvSpPr/>
          <p:nvPr/>
        </p:nvSpPr>
        <p:spPr>
          <a:xfrm>
            <a:off x="6309360" y="3291840"/>
            <a:ext cx="457200" cy="54864"/>
          </a:xfrm>
          <a:prstGeom prst="rect">
            <a:avLst/>
          </a:prstGeom>
          <a:solidFill>
            <a:srgbClr val="6D5BFF"/>
          </a:solidFill>
          <a:ln w="12700">
            <a:solidFill>
              <a:srgbClr val="6D5BFF"/>
            </a:solidFill>
            <a:prstDash val="solid"/>
          </a:ln>
        </p:spPr>
      </p:sp>
      <p:sp>
        <p:nvSpPr>
          <p:cNvPr id="27" name="Text 25"/>
          <p:cNvSpPr txBox="1"/>
          <p:nvPr/>
        </p:nvSpPr>
        <p:spPr>
          <a:xfrm>
            <a:off x="6309360" y="3429000"/>
            <a:ext cx="2240280" cy="365760"/>
          </a:xfrm>
          <a:prstGeom prst="rect">
            <a:avLst/>
          </a:prstGeom>
          <a:noFill/>
          <a:ln/>
        </p:spPr>
        <p:txBody>
          <a:bodyPr wrap="square" lIns="0" tIns="0" rIns="0" bIns="0" rtlCol="0" anchor="ctr"/>
          <a:lstStyle/>
          <a:p>
            <a:pPr indent="0" marL="0">
              <a:buNone/>
            </a:pPr>
            <a:r>
              <a:rPr lang="en-US" sz="1600" b="1" dirty="0">
                <a:solidFill>
                  <a:srgbClr val="E8ECF8"/>
                </a:solidFill>
                <a:latin typeface="Georgia" pitchFamily="34" charset="0"/>
                <a:ea typeface="Georgia" pitchFamily="34" charset="-122"/>
                <a:cs typeface="Georgia" pitchFamily="34" charset="-120"/>
              </a:rPr>
              <a:t>Search and export</a:t>
            </a:r>
            <a:endParaRPr lang="en-US" sz="1600" dirty="0"/>
          </a:p>
        </p:txBody>
      </p:sp>
      <p:sp>
        <p:nvSpPr>
          <p:cNvPr id="28" name="Text 26"/>
          <p:cNvSpPr txBox="1"/>
          <p:nvPr/>
        </p:nvSpPr>
        <p:spPr>
          <a:xfrm>
            <a:off x="6309360" y="3840480"/>
            <a:ext cx="2240280" cy="594360"/>
          </a:xfrm>
          <a:prstGeom prst="rect">
            <a:avLst/>
          </a:prstGeom>
          <a:noFill/>
          <a:ln/>
        </p:spPr>
        <p:txBody>
          <a:bodyPr wrap="square" lIns="0" tIns="0" rIns="0" bIns="0" rtlCol="0" anchor="t"/>
          <a:lstStyle/>
          <a:p>
            <a:pPr indent="0" marL="0">
              <a:buNone/>
            </a:pPr>
            <a:r>
              <a:rPr lang="en-US" sz="1250" dirty="0">
                <a:solidFill>
                  <a:srgbClr val="9AA3C0"/>
                </a:solidFill>
                <a:latin typeface="Calibri" pitchFamily="34" charset="0"/>
                <a:ea typeface="Calibri" pitchFamily="34" charset="-122"/>
                <a:cs typeface="Calibri" pitchFamily="34" charset="-120"/>
              </a:rPr>
              <a:t>Highlight words in the transcript, download report and transcript.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D5BFF"/>
          </a:solidFill>
          <a:ln w="12700">
            <a:solidFill>
              <a:srgbClr val="6D5BFF"/>
            </a:solidFill>
            <a:prstDash val="solid"/>
          </a:ln>
        </p:spPr>
      </p:sp>
      <p:sp>
        <p:nvSpPr>
          <p:cNvPr id="3" name="Text 1"/>
          <p:cNvSpPr txBox="1"/>
          <p:nvPr/>
        </p:nvSpPr>
        <p:spPr>
          <a:xfrm>
            <a:off x="548640" y="320040"/>
            <a:ext cx="8046720" cy="274320"/>
          </a:xfrm>
          <a:prstGeom prst="rect">
            <a:avLst/>
          </a:prstGeom>
          <a:noFill/>
          <a:ln/>
        </p:spPr>
        <p:txBody>
          <a:bodyPr wrap="square" lIns="0" tIns="0" rIns="0" bIns="0" rtlCol="0" anchor="ctr"/>
          <a:lstStyle/>
          <a:p>
            <a:pPr indent="0" marL="0">
              <a:buNone/>
            </a:pPr>
            <a:r>
              <a:rPr lang="en-US" sz="1200" b="1" spc="300" kern="0" dirty="0">
                <a:solidFill>
                  <a:srgbClr val="FF4D8D"/>
                </a:solidFill>
                <a:latin typeface="Calibri" pitchFamily="34" charset="0"/>
                <a:ea typeface="Calibri" pitchFamily="34" charset="-122"/>
                <a:cs typeface="Calibri" pitchFamily="34" charset="-120"/>
              </a:rPr>
              <a:t>THE PIPELINE</a:t>
            </a:r>
            <a:endParaRPr lang="en-US" sz="1200" dirty="0"/>
          </a:p>
        </p:txBody>
      </p:sp>
      <p:sp>
        <p:nvSpPr>
          <p:cNvPr id="4" name="Text 2"/>
          <p:cNvSpPr txBox="1"/>
          <p:nvPr/>
        </p:nvSpPr>
        <p:spPr>
          <a:xfrm>
            <a:off x="548640" y="594360"/>
            <a:ext cx="8046720" cy="640080"/>
          </a:xfrm>
          <a:prstGeom prst="rect">
            <a:avLst/>
          </a:prstGeom>
          <a:noFill/>
          <a:ln/>
        </p:spPr>
        <p:txBody>
          <a:bodyPr wrap="square" lIns="0" tIns="0" rIns="0" bIns="0" rtlCol="0" anchor="ctr"/>
          <a:lstStyle/>
          <a:p>
            <a:pPr indent="0" marL="0">
              <a:buNone/>
            </a:pPr>
            <a:r>
              <a:rPr lang="en-US" sz="3000" b="1" dirty="0">
                <a:solidFill>
                  <a:srgbClr val="E8ECF8"/>
                </a:solidFill>
                <a:latin typeface="Georgia" pitchFamily="34" charset="0"/>
                <a:ea typeface="Georgia" pitchFamily="34" charset="-122"/>
                <a:cs typeface="Georgia" pitchFamily="34" charset="-120"/>
              </a:rPr>
              <a:t>How it works</a:t>
            </a:r>
            <a:endParaRPr lang="en-US" sz="3000" dirty="0"/>
          </a:p>
        </p:txBody>
      </p:sp>
      <p:sp>
        <p:nvSpPr>
          <p:cNvPr id="5" name="Shape 3"/>
          <p:cNvSpPr/>
          <p:nvPr/>
        </p:nvSpPr>
        <p:spPr>
          <a:xfrm>
            <a:off x="548640" y="1554480"/>
            <a:ext cx="1481328" cy="2468880"/>
          </a:xfrm>
          <a:prstGeom prst="roundRect">
            <a:avLst>
              <a:gd name="adj" fmla="val 6173"/>
            </a:avLst>
          </a:prstGeom>
          <a:solidFill>
            <a:srgbClr val="151B33"/>
          </a:solidFill>
          <a:ln w="12700">
            <a:solidFill>
              <a:srgbClr val="262E52"/>
            </a:solidFill>
            <a:prstDash val="solid"/>
          </a:ln>
        </p:spPr>
      </p:sp>
      <p:sp>
        <p:nvSpPr>
          <p:cNvPr id="6" name="Shape 4"/>
          <p:cNvSpPr/>
          <p:nvPr/>
        </p:nvSpPr>
        <p:spPr>
          <a:xfrm>
            <a:off x="685800" y="1691640"/>
            <a:ext cx="411480" cy="411480"/>
          </a:xfrm>
          <a:prstGeom prst="ellipse">
            <a:avLst/>
          </a:prstGeom>
          <a:solidFill>
            <a:srgbClr val="6D5BFF"/>
          </a:solidFill>
          <a:ln w="12700">
            <a:solidFill>
              <a:srgbClr val="6D5BFF"/>
            </a:solidFill>
            <a:prstDash val="solid"/>
          </a:ln>
        </p:spPr>
      </p:sp>
      <p:sp>
        <p:nvSpPr>
          <p:cNvPr id="7" name="Text 5"/>
          <p:cNvSpPr txBox="1"/>
          <p:nvPr/>
        </p:nvSpPr>
        <p:spPr>
          <a:xfrm>
            <a:off x="685800" y="1691640"/>
            <a:ext cx="411480" cy="411480"/>
          </a:xfrm>
          <a:prstGeom prst="rect">
            <a:avLst/>
          </a:prstGeom>
          <a:noFill/>
          <a:ln/>
        </p:spPr>
        <p:txBody>
          <a:bodyPr wrap="square" lIns="0" tIns="0" rIns="0" bIns="0" rtlCol="0" anchor="ctr"/>
          <a:lstStyle/>
          <a:p>
            <a:pPr algn="ctr" indent="0" marL="0">
              <a:buNone/>
            </a:pPr>
            <a:r>
              <a:rPr lang="en-US" sz="1600" b="1" dirty="0">
                <a:solidFill>
                  <a:srgbClr val="0B1020"/>
                </a:solidFill>
                <a:latin typeface="Georgia" pitchFamily="34" charset="0"/>
                <a:ea typeface="Georgia" pitchFamily="34" charset="-122"/>
                <a:cs typeface="Georgia" pitchFamily="34" charset="-120"/>
              </a:rPr>
              <a:t>1</a:t>
            </a:r>
            <a:endParaRPr lang="en-US" sz="1600" dirty="0"/>
          </a:p>
        </p:txBody>
      </p:sp>
      <p:sp>
        <p:nvSpPr>
          <p:cNvPr id="8" name="Text 6"/>
          <p:cNvSpPr txBox="1"/>
          <p:nvPr/>
        </p:nvSpPr>
        <p:spPr>
          <a:xfrm>
            <a:off x="685800" y="2240280"/>
            <a:ext cx="1234440" cy="320040"/>
          </a:xfrm>
          <a:prstGeom prst="rect">
            <a:avLst/>
          </a:prstGeom>
          <a:noFill/>
          <a:ln/>
        </p:spPr>
        <p:txBody>
          <a:bodyPr wrap="square" lIns="0" tIns="0" rIns="0" bIns="0" rtlCol="0" anchor="ctr"/>
          <a:lstStyle/>
          <a:p>
            <a:pPr indent="0" marL="0">
              <a:buNone/>
            </a:pPr>
            <a:r>
              <a:rPr lang="en-US" sz="1300" b="1" dirty="0">
                <a:solidFill>
                  <a:srgbClr val="E8ECF8"/>
                </a:solidFill>
                <a:latin typeface="Georgia" pitchFamily="34" charset="0"/>
                <a:ea typeface="Georgia" pitchFamily="34" charset="-122"/>
                <a:cs typeface="Georgia" pitchFamily="34" charset="-120"/>
              </a:rPr>
              <a:t>Audio</a:t>
            </a:r>
            <a:endParaRPr lang="en-US" sz="1300" dirty="0"/>
          </a:p>
        </p:txBody>
      </p:sp>
      <p:sp>
        <p:nvSpPr>
          <p:cNvPr id="9" name="Text 7"/>
          <p:cNvSpPr txBox="1"/>
          <p:nvPr/>
        </p:nvSpPr>
        <p:spPr>
          <a:xfrm>
            <a:off x="685800" y="2606040"/>
            <a:ext cx="1234440" cy="1325880"/>
          </a:xfrm>
          <a:prstGeom prst="rect">
            <a:avLst/>
          </a:prstGeom>
          <a:noFill/>
          <a:ln/>
        </p:spPr>
        <p:txBody>
          <a:bodyPr wrap="square" lIns="0" tIns="0" rIns="0" bIns="0" rtlCol="0" anchor="t"/>
          <a:lstStyle/>
          <a:p>
            <a:pPr indent="0" marL="0">
              <a:buNone/>
            </a:pPr>
            <a:r>
              <a:rPr lang="en-US" sz="1150" dirty="0">
                <a:solidFill>
                  <a:srgbClr val="9AA3C0"/>
                </a:solidFill>
                <a:latin typeface="Calibri" pitchFamily="34" charset="0"/>
                <a:ea typeface="Calibri" pitchFamily="34" charset="-122"/>
                <a:cs typeface="Calibri" pitchFamily="34" charset="-120"/>
              </a:rPr>
              <a:t>yt-dlp, ffmpeg and pydub make 16 kHz WAV in 10-min chunks</a:t>
            </a:r>
            <a:endParaRPr lang="en-US" sz="1150" dirty="0"/>
          </a:p>
        </p:txBody>
      </p:sp>
      <p:sp>
        <p:nvSpPr>
          <p:cNvPr id="10" name="Shape 8"/>
          <p:cNvSpPr/>
          <p:nvPr/>
        </p:nvSpPr>
        <p:spPr>
          <a:xfrm>
            <a:off x="2176272" y="1554480"/>
            <a:ext cx="1481328" cy="2468880"/>
          </a:xfrm>
          <a:prstGeom prst="roundRect">
            <a:avLst>
              <a:gd name="adj" fmla="val 6173"/>
            </a:avLst>
          </a:prstGeom>
          <a:solidFill>
            <a:srgbClr val="151B33"/>
          </a:solidFill>
          <a:ln w="12700">
            <a:solidFill>
              <a:srgbClr val="262E52"/>
            </a:solidFill>
            <a:prstDash val="solid"/>
          </a:ln>
        </p:spPr>
      </p:sp>
      <p:sp>
        <p:nvSpPr>
          <p:cNvPr id="11" name="Shape 9"/>
          <p:cNvSpPr/>
          <p:nvPr/>
        </p:nvSpPr>
        <p:spPr>
          <a:xfrm>
            <a:off x="2313432" y="1691640"/>
            <a:ext cx="411480" cy="411480"/>
          </a:xfrm>
          <a:prstGeom prst="ellipse">
            <a:avLst/>
          </a:prstGeom>
          <a:solidFill>
            <a:srgbClr val="3DD6F5"/>
          </a:solidFill>
          <a:ln w="12700">
            <a:solidFill>
              <a:srgbClr val="3DD6F5"/>
            </a:solidFill>
            <a:prstDash val="solid"/>
          </a:ln>
        </p:spPr>
      </p:sp>
      <p:sp>
        <p:nvSpPr>
          <p:cNvPr id="12" name="Text 10"/>
          <p:cNvSpPr txBox="1"/>
          <p:nvPr/>
        </p:nvSpPr>
        <p:spPr>
          <a:xfrm>
            <a:off x="2313432" y="1691640"/>
            <a:ext cx="411480" cy="411480"/>
          </a:xfrm>
          <a:prstGeom prst="rect">
            <a:avLst/>
          </a:prstGeom>
          <a:noFill/>
          <a:ln/>
        </p:spPr>
        <p:txBody>
          <a:bodyPr wrap="square" lIns="0" tIns="0" rIns="0" bIns="0" rtlCol="0" anchor="ctr"/>
          <a:lstStyle/>
          <a:p>
            <a:pPr algn="ctr" indent="0" marL="0">
              <a:buNone/>
            </a:pPr>
            <a:r>
              <a:rPr lang="en-US" sz="1600" b="1" dirty="0">
                <a:solidFill>
                  <a:srgbClr val="0B1020"/>
                </a:solidFill>
                <a:latin typeface="Georgia" pitchFamily="34" charset="0"/>
                <a:ea typeface="Georgia" pitchFamily="34" charset="-122"/>
                <a:cs typeface="Georgia" pitchFamily="34" charset="-120"/>
              </a:rPr>
              <a:t>2</a:t>
            </a:r>
            <a:endParaRPr lang="en-US" sz="1600" dirty="0"/>
          </a:p>
        </p:txBody>
      </p:sp>
      <p:sp>
        <p:nvSpPr>
          <p:cNvPr id="13" name="Text 11"/>
          <p:cNvSpPr txBox="1"/>
          <p:nvPr/>
        </p:nvSpPr>
        <p:spPr>
          <a:xfrm>
            <a:off x="2313432" y="2240280"/>
            <a:ext cx="1234440" cy="320040"/>
          </a:xfrm>
          <a:prstGeom prst="rect">
            <a:avLst/>
          </a:prstGeom>
          <a:noFill/>
          <a:ln/>
        </p:spPr>
        <p:txBody>
          <a:bodyPr wrap="square" lIns="0" tIns="0" rIns="0" bIns="0" rtlCol="0" anchor="ctr"/>
          <a:lstStyle/>
          <a:p>
            <a:pPr indent="0" marL="0">
              <a:buNone/>
            </a:pPr>
            <a:r>
              <a:rPr lang="en-US" sz="1300" b="1" dirty="0">
                <a:solidFill>
                  <a:srgbClr val="E8ECF8"/>
                </a:solidFill>
                <a:latin typeface="Georgia" pitchFamily="34" charset="0"/>
                <a:ea typeface="Georgia" pitchFamily="34" charset="-122"/>
                <a:cs typeface="Georgia" pitchFamily="34" charset="-120"/>
              </a:rPr>
              <a:t>Transcribe</a:t>
            </a:r>
            <a:endParaRPr lang="en-US" sz="1300" dirty="0"/>
          </a:p>
        </p:txBody>
      </p:sp>
      <p:sp>
        <p:nvSpPr>
          <p:cNvPr id="14" name="Text 12"/>
          <p:cNvSpPr txBox="1"/>
          <p:nvPr/>
        </p:nvSpPr>
        <p:spPr>
          <a:xfrm>
            <a:off x="2313432" y="2606040"/>
            <a:ext cx="1234440" cy="1325880"/>
          </a:xfrm>
          <a:prstGeom prst="rect">
            <a:avLst/>
          </a:prstGeom>
          <a:noFill/>
          <a:ln/>
        </p:spPr>
        <p:txBody>
          <a:bodyPr wrap="square" lIns="0" tIns="0" rIns="0" bIns="0" rtlCol="0" anchor="t"/>
          <a:lstStyle/>
          <a:p>
            <a:pPr indent="0" marL="0">
              <a:buNone/>
            </a:pPr>
            <a:r>
              <a:rPr lang="en-US" sz="1150" dirty="0">
                <a:solidFill>
                  <a:srgbClr val="9AA3C0"/>
                </a:solidFill>
                <a:latin typeface="Calibri" pitchFamily="34" charset="0"/>
                <a:ea typeface="Calibri" pitchFamily="34" charset="-122"/>
                <a:cs typeface="Calibri" pitchFamily="34" charset="-120"/>
              </a:rPr>
              <a:t>Whisper (English) or Sarvam AI (Hinglish)</a:t>
            </a:r>
            <a:endParaRPr lang="en-US" sz="1150" dirty="0"/>
          </a:p>
        </p:txBody>
      </p:sp>
      <p:sp>
        <p:nvSpPr>
          <p:cNvPr id="15" name="Shape 13"/>
          <p:cNvSpPr/>
          <p:nvPr/>
        </p:nvSpPr>
        <p:spPr>
          <a:xfrm>
            <a:off x="3803904" y="1554480"/>
            <a:ext cx="1481328" cy="2468880"/>
          </a:xfrm>
          <a:prstGeom prst="roundRect">
            <a:avLst>
              <a:gd name="adj" fmla="val 6173"/>
            </a:avLst>
          </a:prstGeom>
          <a:solidFill>
            <a:srgbClr val="151B33"/>
          </a:solidFill>
          <a:ln w="12700">
            <a:solidFill>
              <a:srgbClr val="262E52"/>
            </a:solidFill>
            <a:prstDash val="solid"/>
          </a:ln>
        </p:spPr>
      </p:sp>
      <p:sp>
        <p:nvSpPr>
          <p:cNvPr id="16" name="Shape 14"/>
          <p:cNvSpPr/>
          <p:nvPr/>
        </p:nvSpPr>
        <p:spPr>
          <a:xfrm>
            <a:off x="3941064" y="1691640"/>
            <a:ext cx="411480" cy="411480"/>
          </a:xfrm>
          <a:prstGeom prst="ellipse">
            <a:avLst/>
          </a:prstGeom>
          <a:solidFill>
            <a:srgbClr val="FF9B54"/>
          </a:solidFill>
          <a:ln w="12700">
            <a:solidFill>
              <a:srgbClr val="FF9B54"/>
            </a:solidFill>
            <a:prstDash val="solid"/>
          </a:ln>
        </p:spPr>
      </p:sp>
      <p:sp>
        <p:nvSpPr>
          <p:cNvPr id="17" name="Text 15"/>
          <p:cNvSpPr txBox="1"/>
          <p:nvPr/>
        </p:nvSpPr>
        <p:spPr>
          <a:xfrm>
            <a:off x="3941064" y="1691640"/>
            <a:ext cx="411480" cy="411480"/>
          </a:xfrm>
          <a:prstGeom prst="rect">
            <a:avLst/>
          </a:prstGeom>
          <a:noFill/>
          <a:ln/>
        </p:spPr>
        <p:txBody>
          <a:bodyPr wrap="square" lIns="0" tIns="0" rIns="0" bIns="0" rtlCol="0" anchor="ctr"/>
          <a:lstStyle/>
          <a:p>
            <a:pPr algn="ctr" indent="0" marL="0">
              <a:buNone/>
            </a:pPr>
            <a:r>
              <a:rPr lang="en-US" sz="1600" b="1" dirty="0">
                <a:solidFill>
                  <a:srgbClr val="0B1020"/>
                </a:solidFill>
                <a:latin typeface="Georgia" pitchFamily="34" charset="0"/>
                <a:ea typeface="Georgia" pitchFamily="34" charset="-122"/>
                <a:cs typeface="Georgia" pitchFamily="34" charset="-120"/>
              </a:rPr>
              <a:t>3</a:t>
            </a:r>
            <a:endParaRPr lang="en-US" sz="1600" dirty="0"/>
          </a:p>
        </p:txBody>
      </p:sp>
      <p:sp>
        <p:nvSpPr>
          <p:cNvPr id="18" name="Text 16"/>
          <p:cNvSpPr txBox="1"/>
          <p:nvPr/>
        </p:nvSpPr>
        <p:spPr>
          <a:xfrm>
            <a:off x="3941064" y="2240280"/>
            <a:ext cx="1234440" cy="320040"/>
          </a:xfrm>
          <a:prstGeom prst="rect">
            <a:avLst/>
          </a:prstGeom>
          <a:noFill/>
          <a:ln/>
        </p:spPr>
        <p:txBody>
          <a:bodyPr wrap="square" lIns="0" tIns="0" rIns="0" bIns="0" rtlCol="0" anchor="ctr"/>
          <a:lstStyle/>
          <a:p>
            <a:pPr indent="0" marL="0">
              <a:buNone/>
            </a:pPr>
            <a:r>
              <a:rPr lang="en-US" sz="1300" b="1" dirty="0">
                <a:solidFill>
                  <a:srgbClr val="E8ECF8"/>
                </a:solidFill>
                <a:latin typeface="Georgia" pitchFamily="34" charset="0"/>
                <a:ea typeface="Georgia" pitchFamily="34" charset="-122"/>
                <a:cs typeface="Georgia" pitchFamily="34" charset="-120"/>
              </a:rPr>
              <a:t>Understand</a:t>
            </a:r>
            <a:endParaRPr lang="en-US" sz="1300" dirty="0"/>
          </a:p>
        </p:txBody>
      </p:sp>
      <p:sp>
        <p:nvSpPr>
          <p:cNvPr id="19" name="Text 17"/>
          <p:cNvSpPr txBox="1"/>
          <p:nvPr/>
        </p:nvSpPr>
        <p:spPr>
          <a:xfrm>
            <a:off x="3941064" y="2606040"/>
            <a:ext cx="1234440" cy="1325880"/>
          </a:xfrm>
          <a:prstGeom prst="rect">
            <a:avLst/>
          </a:prstGeom>
          <a:noFill/>
          <a:ln/>
        </p:spPr>
        <p:txBody>
          <a:bodyPr wrap="square" lIns="0" tIns="0" rIns="0" bIns="0" rtlCol="0" anchor="t"/>
          <a:lstStyle/>
          <a:p>
            <a:pPr indent="0" marL="0">
              <a:buNone/>
            </a:pPr>
            <a:r>
              <a:rPr lang="en-US" sz="1150" dirty="0">
                <a:solidFill>
                  <a:srgbClr val="9AA3C0"/>
                </a:solidFill>
                <a:latin typeface="Calibri" pitchFamily="34" charset="0"/>
                <a:ea typeface="Calibri" pitchFamily="34" charset="-122"/>
                <a:cs typeface="Calibri" pitchFamily="34" charset="-120"/>
              </a:rPr>
              <a:t>Mistral LLM writes title, summary and extractions</a:t>
            </a:r>
            <a:endParaRPr lang="en-US" sz="1150" dirty="0"/>
          </a:p>
        </p:txBody>
      </p:sp>
      <p:sp>
        <p:nvSpPr>
          <p:cNvPr id="20" name="Shape 18"/>
          <p:cNvSpPr/>
          <p:nvPr/>
        </p:nvSpPr>
        <p:spPr>
          <a:xfrm>
            <a:off x="5431536" y="1554480"/>
            <a:ext cx="1481328" cy="2468880"/>
          </a:xfrm>
          <a:prstGeom prst="roundRect">
            <a:avLst>
              <a:gd name="adj" fmla="val 6173"/>
            </a:avLst>
          </a:prstGeom>
          <a:solidFill>
            <a:srgbClr val="151B33"/>
          </a:solidFill>
          <a:ln w="12700">
            <a:solidFill>
              <a:srgbClr val="262E52"/>
            </a:solidFill>
            <a:prstDash val="solid"/>
          </a:ln>
        </p:spPr>
      </p:sp>
      <p:sp>
        <p:nvSpPr>
          <p:cNvPr id="21" name="Shape 19"/>
          <p:cNvSpPr/>
          <p:nvPr/>
        </p:nvSpPr>
        <p:spPr>
          <a:xfrm>
            <a:off x="5568696" y="1691640"/>
            <a:ext cx="411480" cy="411480"/>
          </a:xfrm>
          <a:prstGeom prst="ellipse">
            <a:avLst/>
          </a:prstGeom>
          <a:solidFill>
            <a:srgbClr val="4ADE9A"/>
          </a:solidFill>
          <a:ln w="12700">
            <a:solidFill>
              <a:srgbClr val="4ADE9A"/>
            </a:solidFill>
            <a:prstDash val="solid"/>
          </a:ln>
        </p:spPr>
      </p:sp>
      <p:sp>
        <p:nvSpPr>
          <p:cNvPr id="22" name="Text 20"/>
          <p:cNvSpPr txBox="1"/>
          <p:nvPr/>
        </p:nvSpPr>
        <p:spPr>
          <a:xfrm>
            <a:off x="5568696" y="1691640"/>
            <a:ext cx="411480" cy="411480"/>
          </a:xfrm>
          <a:prstGeom prst="rect">
            <a:avLst/>
          </a:prstGeom>
          <a:noFill/>
          <a:ln/>
        </p:spPr>
        <p:txBody>
          <a:bodyPr wrap="square" lIns="0" tIns="0" rIns="0" bIns="0" rtlCol="0" anchor="ctr"/>
          <a:lstStyle/>
          <a:p>
            <a:pPr algn="ctr" indent="0" marL="0">
              <a:buNone/>
            </a:pPr>
            <a:r>
              <a:rPr lang="en-US" sz="1600" b="1" dirty="0">
                <a:solidFill>
                  <a:srgbClr val="0B1020"/>
                </a:solidFill>
                <a:latin typeface="Georgia" pitchFamily="34" charset="0"/>
                <a:ea typeface="Georgia" pitchFamily="34" charset="-122"/>
                <a:cs typeface="Georgia" pitchFamily="34" charset="-120"/>
              </a:rPr>
              <a:t>4</a:t>
            </a:r>
            <a:endParaRPr lang="en-US" sz="1600" dirty="0"/>
          </a:p>
        </p:txBody>
      </p:sp>
      <p:sp>
        <p:nvSpPr>
          <p:cNvPr id="23" name="Text 21"/>
          <p:cNvSpPr txBox="1"/>
          <p:nvPr/>
        </p:nvSpPr>
        <p:spPr>
          <a:xfrm>
            <a:off x="5568696" y="2240280"/>
            <a:ext cx="1234440" cy="320040"/>
          </a:xfrm>
          <a:prstGeom prst="rect">
            <a:avLst/>
          </a:prstGeom>
          <a:noFill/>
          <a:ln/>
        </p:spPr>
        <p:txBody>
          <a:bodyPr wrap="square" lIns="0" tIns="0" rIns="0" bIns="0" rtlCol="0" anchor="ctr"/>
          <a:lstStyle/>
          <a:p>
            <a:pPr indent="0" marL="0">
              <a:buNone/>
            </a:pPr>
            <a:r>
              <a:rPr lang="en-US" sz="1300" b="1" dirty="0">
                <a:solidFill>
                  <a:srgbClr val="E8ECF8"/>
                </a:solidFill>
                <a:latin typeface="Georgia" pitchFamily="34" charset="0"/>
                <a:ea typeface="Georgia" pitchFamily="34" charset="-122"/>
                <a:cs typeface="Georgia" pitchFamily="34" charset="-120"/>
              </a:rPr>
              <a:t>Index</a:t>
            </a:r>
            <a:endParaRPr lang="en-US" sz="1300" dirty="0"/>
          </a:p>
        </p:txBody>
      </p:sp>
      <p:sp>
        <p:nvSpPr>
          <p:cNvPr id="24" name="Text 22"/>
          <p:cNvSpPr txBox="1"/>
          <p:nvPr/>
        </p:nvSpPr>
        <p:spPr>
          <a:xfrm>
            <a:off x="5568696" y="2606040"/>
            <a:ext cx="1234440" cy="1325880"/>
          </a:xfrm>
          <a:prstGeom prst="rect">
            <a:avLst/>
          </a:prstGeom>
          <a:noFill/>
          <a:ln/>
        </p:spPr>
        <p:txBody>
          <a:bodyPr wrap="square" lIns="0" tIns="0" rIns="0" bIns="0" rtlCol="0" anchor="t"/>
          <a:lstStyle/>
          <a:p>
            <a:pPr indent="0" marL="0">
              <a:buNone/>
            </a:pPr>
            <a:r>
              <a:rPr lang="en-US" sz="1150" dirty="0">
                <a:solidFill>
                  <a:srgbClr val="9AA3C0"/>
                </a:solidFill>
                <a:latin typeface="Calibri" pitchFamily="34" charset="0"/>
                <a:ea typeface="Calibri" pitchFamily="34" charset="-122"/>
                <a:cs typeface="Calibri" pitchFamily="34" charset="-120"/>
              </a:rPr>
              <a:t>Chunks, embeddings and ChromaDB vector store</a:t>
            </a:r>
            <a:endParaRPr lang="en-US" sz="1150" dirty="0"/>
          </a:p>
        </p:txBody>
      </p:sp>
      <p:sp>
        <p:nvSpPr>
          <p:cNvPr id="25" name="Shape 23"/>
          <p:cNvSpPr/>
          <p:nvPr/>
        </p:nvSpPr>
        <p:spPr>
          <a:xfrm>
            <a:off x="7059168" y="1554480"/>
            <a:ext cx="1481328" cy="2468880"/>
          </a:xfrm>
          <a:prstGeom prst="roundRect">
            <a:avLst>
              <a:gd name="adj" fmla="val 6173"/>
            </a:avLst>
          </a:prstGeom>
          <a:solidFill>
            <a:srgbClr val="151B33"/>
          </a:solidFill>
          <a:ln w="12700">
            <a:solidFill>
              <a:srgbClr val="262E52"/>
            </a:solidFill>
            <a:prstDash val="solid"/>
          </a:ln>
        </p:spPr>
      </p:sp>
      <p:sp>
        <p:nvSpPr>
          <p:cNvPr id="26" name="Shape 24"/>
          <p:cNvSpPr/>
          <p:nvPr/>
        </p:nvSpPr>
        <p:spPr>
          <a:xfrm>
            <a:off x="7196328" y="1691640"/>
            <a:ext cx="411480" cy="411480"/>
          </a:xfrm>
          <a:prstGeom prst="ellipse">
            <a:avLst/>
          </a:prstGeom>
          <a:solidFill>
            <a:srgbClr val="FF4D8D"/>
          </a:solidFill>
          <a:ln w="12700">
            <a:solidFill>
              <a:srgbClr val="FF4D8D"/>
            </a:solidFill>
            <a:prstDash val="solid"/>
          </a:ln>
        </p:spPr>
      </p:sp>
      <p:sp>
        <p:nvSpPr>
          <p:cNvPr id="27" name="Text 25"/>
          <p:cNvSpPr txBox="1"/>
          <p:nvPr/>
        </p:nvSpPr>
        <p:spPr>
          <a:xfrm>
            <a:off x="7196328" y="1691640"/>
            <a:ext cx="411480" cy="411480"/>
          </a:xfrm>
          <a:prstGeom prst="rect">
            <a:avLst/>
          </a:prstGeom>
          <a:noFill/>
          <a:ln/>
        </p:spPr>
        <p:txBody>
          <a:bodyPr wrap="square" lIns="0" tIns="0" rIns="0" bIns="0" rtlCol="0" anchor="ctr"/>
          <a:lstStyle/>
          <a:p>
            <a:pPr algn="ctr" indent="0" marL="0">
              <a:buNone/>
            </a:pPr>
            <a:r>
              <a:rPr lang="en-US" sz="1600" b="1" dirty="0">
                <a:solidFill>
                  <a:srgbClr val="0B1020"/>
                </a:solidFill>
                <a:latin typeface="Georgia" pitchFamily="34" charset="0"/>
                <a:ea typeface="Georgia" pitchFamily="34" charset="-122"/>
                <a:cs typeface="Georgia" pitchFamily="34" charset="-120"/>
              </a:rPr>
              <a:t>5</a:t>
            </a:r>
            <a:endParaRPr lang="en-US" sz="1600" dirty="0"/>
          </a:p>
        </p:txBody>
      </p:sp>
      <p:sp>
        <p:nvSpPr>
          <p:cNvPr id="28" name="Text 26"/>
          <p:cNvSpPr txBox="1"/>
          <p:nvPr/>
        </p:nvSpPr>
        <p:spPr>
          <a:xfrm>
            <a:off x="7196328" y="2240280"/>
            <a:ext cx="1234440" cy="320040"/>
          </a:xfrm>
          <a:prstGeom prst="rect">
            <a:avLst/>
          </a:prstGeom>
          <a:noFill/>
          <a:ln/>
        </p:spPr>
        <p:txBody>
          <a:bodyPr wrap="square" lIns="0" tIns="0" rIns="0" bIns="0" rtlCol="0" anchor="ctr"/>
          <a:lstStyle/>
          <a:p>
            <a:pPr indent="0" marL="0">
              <a:buNone/>
            </a:pPr>
            <a:r>
              <a:rPr lang="en-US" sz="1300" b="1" dirty="0">
                <a:solidFill>
                  <a:srgbClr val="E8ECF8"/>
                </a:solidFill>
                <a:latin typeface="Georgia" pitchFamily="34" charset="0"/>
                <a:ea typeface="Georgia" pitchFamily="34" charset="-122"/>
                <a:cs typeface="Georgia" pitchFamily="34" charset="-120"/>
              </a:rPr>
              <a:t>Chat (RAG)</a:t>
            </a:r>
            <a:endParaRPr lang="en-US" sz="1300" dirty="0"/>
          </a:p>
        </p:txBody>
      </p:sp>
      <p:sp>
        <p:nvSpPr>
          <p:cNvPr id="29" name="Text 27"/>
          <p:cNvSpPr txBox="1"/>
          <p:nvPr/>
        </p:nvSpPr>
        <p:spPr>
          <a:xfrm>
            <a:off x="7196328" y="2606040"/>
            <a:ext cx="1234440" cy="1325880"/>
          </a:xfrm>
          <a:prstGeom prst="rect">
            <a:avLst/>
          </a:prstGeom>
          <a:noFill/>
          <a:ln/>
        </p:spPr>
        <p:txBody>
          <a:bodyPr wrap="square" lIns="0" tIns="0" rIns="0" bIns="0" rtlCol="0" anchor="t"/>
          <a:lstStyle/>
          <a:p>
            <a:pPr indent="0" marL="0">
              <a:buNone/>
            </a:pPr>
            <a:r>
              <a:rPr lang="en-US" sz="1150" dirty="0">
                <a:solidFill>
                  <a:srgbClr val="9AA3C0"/>
                </a:solidFill>
                <a:latin typeface="Calibri" pitchFamily="34" charset="0"/>
                <a:ea typeface="Calibri" pitchFamily="34" charset="-122"/>
                <a:cs typeface="Calibri" pitchFamily="34" charset="-120"/>
              </a:rPr>
              <a:t>Top 4 relevant chunks answer each question</a:t>
            </a:r>
            <a:endParaRPr lang="en-US" sz="1150" dirty="0"/>
          </a:p>
        </p:txBody>
      </p:sp>
      <p:sp>
        <p:nvSpPr>
          <p:cNvPr id="30" name="Text 28"/>
          <p:cNvSpPr txBox="1"/>
          <p:nvPr/>
        </p:nvSpPr>
        <p:spPr>
          <a:xfrm>
            <a:off x="548640" y="4297680"/>
            <a:ext cx="8046720" cy="320040"/>
          </a:xfrm>
          <a:prstGeom prst="rect">
            <a:avLst/>
          </a:prstGeom>
          <a:noFill/>
          <a:ln/>
        </p:spPr>
        <p:txBody>
          <a:bodyPr wrap="square" lIns="0" tIns="0" rIns="0" bIns="0" rtlCol="0" anchor="ctr"/>
          <a:lstStyle/>
          <a:p>
            <a:pPr indent="0" marL="0">
              <a:buNone/>
            </a:pPr>
            <a:r>
              <a:rPr lang="en-US" sz="1300" i="1" dirty="0">
                <a:solidFill>
                  <a:srgbClr val="FF9B54"/>
                </a:solidFill>
                <a:latin typeface="Calibri" pitchFamily="34" charset="0"/>
                <a:ea typeface="Calibri" pitchFamily="34" charset="-122"/>
                <a:cs typeface="Calibri" pitchFamily="34" charset="-120"/>
              </a:rPr>
              <a:t>If the answer is not in the video, the assistant says so instead of guessing.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D5BFF"/>
          </a:solidFill>
          <a:ln w="12700">
            <a:solidFill>
              <a:srgbClr val="6D5BFF"/>
            </a:solidFill>
            <a:prstDash val="solid"/>
          </a:ln>
        </p:spPr>
      </p:sp>
      <p:sp>
        <p:nvSpPr>
          <p:cNvPr id="3" name="Text 1"/>
          <p:cNvSpPr txBox="1"/>
          <p:nvPr/>
        </p:nvSpPr>
        <p:spPr>
          <a:xfrm>
            <a:off x="548640" y="320040"/>
            <a:ext cx="8046720" cy="274320"/>
          </a:xfrm>
          <a:prstGeom prst="rect">
            <a:avLst/>
          </a:prstGeom>
          <a:noFill/>
          <a:ln/>
        </p:spPr>
        <p:txBody>
          <a:bodyPr wrap="square" lIns="0" tIns="0" rIns="0" bIns="0" rtlCol="0" anchor="ctr"/>
          <a:lstStyle/>
          <a:p>
            <a:pPr indent="0" marL="0">
              <a:buNone/>
            </a:pPr>
            <a:r>
              <a:rPr lang="en-US" sz="1200" b="1" spc="300" kern="0" dirty="0">
                <a:solidFill>
                  <a:srgbClr val="FF4D8D"/>
                </a:solidFill>
                <a:latin typeface="Calibri" pitchFamily="34" charset="0"/>
                <a:ea typeface="Calibri" pitchFamily="34" charset="-122"/>
                <a:cs typeface="Calibri" pitchFamily="34" charset="-120"/>
              </a:rPr>
              <a:t>BUILT WITH</a:t>
            </a:r>
            <a:endParaRPr lang="en-US" sz="1200" dirty="0"/>
          </a:p>
        </p:txBody>
      </p:sp>
      <p:sp>
        <p:nvSpPr>
          <p:cNvPr id="4" name="Text 2"/>
          <p:cNvSpPr txBox="1"/>
          <p:nvPr/>
        </p:nvSpPr>
        <p:spPr>
          <a:xfrm>
            <a:off x="548640" y="594360"/>
            <a:ext cx="8046720" cy="640080"/>
          </a:xfrm>
          <a:prstGeom prst="rect">
            <a:avLst/>
          </a:prstGeom>
          <a:noFill/>
          <a:ln/>
        </p:spPr>
        <p:txBody>
          <a:bodyPr wrap="square" lIns="0" tIns="0" rIns="0" bIns="0" rtlCol="0" anchor="ctr"/>
          <a:lstStyle/>
          <a:p>
            <a:pPr indent="0" marL="0">
              <a:buNone/>
            </a:pPr>
            <a:r>
              <a:rPr lang="en-US" sz="3000" b="1" dirty="0">
                <a:solidFill>
                  <a:srgbClr val="E8ECF8"/>
                </a:solidFill>
                <a:latin typeface="Georgia" pitchFamily="34" charset="0"/>
                <a:ea typeface="Georgia" pitchFamily="34" charset="-122"/>
                <a:cs typeface="Georgia" pitchFamily="34" charset="-120"/>
              </a:rPr>
              <a:t>Tech stack</a:t>
            </a:r>
            <a:endParaRPr lang="en-US" sz="3000" dirty="0"/>
          </a:p>
        </p:txBody>
      </p:sp>
      <p:sp>
        <p:nvSpPr>
          <p:cNvPr id="5" name="Shape 3"/>
          <p:cNvSpPr/>
          <p:nvPr/>
        </p:nvSpPr>
        <p:spPr>
          <a:xfrm>
            <a:off x="548640" y="1463040"/>
            <a:ext cx="73152" cy="384048"/>
          </a:xfrm>
          <a:prstGeom prst="rect">
            <a:avLst/>
          </a:prstGeom>
          <a:solidFill>
            <a:srgbClr val="6D5BFF"/>
          </a:solidFill>
          <a:ln w="12700">
            <a:solidFill>
              <a:srgbClr val="6D5BFF"/>
            </a:solidFill>
            <a:prstDash val="solid"/>
          </a:ln>
        </p:spPr>
      </p:sp>
      <p:sp>
        <p:nvSpPr>
          <p:cNvPr id="6" name="Text 4"/>
          <p:cNvSpPr txBox="1"/>
          <p:nvPr/>
        </p:nvSpPr>
        <p:spPr>
          <a:xfrm>
            <a:off x="777240" y="1463040"/>
            <a:ext cx="2011680" cy="384048"/>
          </a:xfrm>
          <a:prstGeom prst="rect">
            <a:avLst/>
          </a:prstGeom>
          <a:noFill/>
          <a:ln/>
        </p:spPr>
        <p:txBody>
          <a:bodyPr wrap="square" lIns="0" tIns="0" rIns="0" bIns="0" rtlCol="0" anchor="ctr"/>
          <a:lstStyle/>
          <a:p>
            <a:pPr indent="0" marL="0">
              <a:buNone/>
            </a:pPr>
            <a:r>
              <a:rPr lang="en-US" sz="1500" b="1" dirty="0">
                <a:solidFill>
                  <a:srgbClr val="E8ECF8"/>
                </a:solidFill>
                <a:latin typeface="Georgia" pitchFamily="34" charset="0"/>
                <a:ea typeface="Georgia" pitchFamily="34" charset="-122"/>
                <a:cs typeface="Georgia" pitchFamily="34" charset="-120"/>
              </a:rPr>
              <a:t>Interface</a:t>
            </a:r>
            <a:endParaRPr lang="en-US" sz="1500" dirty="0"/>
          </a:p>
        </p:txBody>
      </p:sp>
      <p:sp>
        <p:nvSpPr>
          <p:cNvPr id="7" name="Text 5"/>
          <p:cNvSpPr txBox="1"/>
          <p:nvPr/>
        </p:nvSpPr>
        <p:spPr>
          <a:xfrm>
            <a:off x="2834640" y="1463040"/>
            <a:ext cx="5760720" cy="384048"/>
          </a:xfrm>
          <a:prstGeom prst="rect">
            <a:avLst/>
          </a:prstGeom>
          <a:noFill/>
          <a:ln/>
        </p:spPr>
        <p:txBody>
          <a:bodyPr wrap="square" lIns="0" tIns="0" rIns="0" bIns="0" rtlCol="0" anchor="ctr"/>
          <a:lstStyle/>
          <a:p>
            <a:pPr indent="0" marL="0">
              <a:buNone/>
            </a:pPr>
            <a:r>
              <a:rPr lang="en-US" sz="1400" dirty="0">
                <a:solidFill>
                  <a:srgbClr val="9AA3C0"/>
                </a:solidFill>
                <a:latin typeface="Calibri" pitchFamily="34" charset="0"/>
                <a:ea typeface="Calibri" pitchFamily="34" charset="-122"/>
                <a:cs typeface="Calibri" pitchFamily="34" charset="-120"/>
              </a:rPr>
              <a:t>Streamlit with a custom dark theme</a:t>
            </a:r>
            <a:endParaRPr lang="en-US" sz="1400" dirty="0"/>
          </a:p>
        </p:txBody>
      </p:sp>
      <p:sp>
        <p:nvSpPr>
          <p:cNvPr id="8" name="Shape 6"/>
          <p:cNvSpPr/>
          <p:nvPr/>
        </p:nvSpPr>
        <p:spPr>
          <a:xfrm>
            <a:off x="548640" y="1984248"/>
            <a:ext cx="73152" cy="384048"/>
          </a:xfrm>
          <a:prstGeom prst="rect">
            <a:avLst/>
          </a:prstGeom>
          <a:solidFill>
            <a:srgbClr val="3DD6F5"/>
          </a:solidFill>
          <a:ln w="12700">
            <a:solidFill>
              <a:srgbClr val="3DD6F5"/>
            </a:solidFill>
            <a:prstDash val="solid"/>
          </a:ln>
        </p:spPr>
      </p:sp>
      <p:sp>
        <p:nvSpPr>
          <p:cNvPr id="9" name="Text 7"/>
          <p:cNvSpPr txBox="1"/>
          <p:nvPr/>
        </p:nvSpPr>
        <p:spPr>
          <a:xfrm>
            <a:off x="777240" y="1984248"/>
            <a:ext cx="2011680" cy="384048"/>
          </a:xfrm>
          <a:prstGeom prst="rect">
            <a:avLst/>
          </a:prstGeom>
          <a:noFill/>
          <a:ln/>
        </p:spPr>
        <p:txBody>
          <a:bodyPr wrap="square" lIns="0" tIns="0" rIns="0" bIns="0" rtlCol="0" anchor="ctr"/>
          <a:lstStyle/>
          <a:p>
            <a:pPr indent="0" marL="0">
              <a:buNone/>
            </a:pPr>
            <a:r>
              <a:rPr lang="en-US" sz="1500" b="1" dirty="0">
                <a:solidFill>
                  <a:srgbClr val="E8ECF8"/>
                </a:solidFill>
                <a:latin typeface="Georgia" pitchFamily="34" charset="0"/>
                <a:ea typeface="Georgia" pitchFamily="34" charset="-122"/>
                <a:cs typeface="Georgia" pitchFamily="34" charset="-120"/>
              </a:rPr>
              <a:t>Audio</a:t>
            </a:r>
            <a:endParaRPr lang="en-US" sz="1500" dirty="0"/>
          </a:p>
        </p:txBody>
      </p:sp>
      <p:sp>
        <p:nvSpPr>
          <p:cNvPr id="10" name="Text 8"/>
          <p:cNvSpPr txBox="1"/>
          <p:nvPr/>
        </p:nvSpPr>
        <p:spPr>
          <a:xfrm>
            <a:off x="2834640" y="1984248"/>
            <a:ext cx="5760720" cy="384048"/>
          </a:xfrm>
          <a:prstGeom prst="rect">
            <a:avLst/>
          </a:prstGeom>
          <a:noFill/>
          <a:ln/>
        </p:spPr>
        <p:txBody>
          <a:bodyPr wrap="square" lIns="0" tIns="0" rIns="0" bIns="0" rtlCol="0" anchor="ctr"/>
          <a:lstStyle/>
          <a:p>
            <a:pPr indent="0" marL="0">
              <a:buNone/>
            </a:pPr>
            <a:r>
              <a:rPr lang="en-US" sz="1400" dirty="0">
                <a:solidFill>
                  <a:srgbClr val="9AA3C0"/>
                </a:solidFill>
                <a:latin typeface="Calibri" pitchFamily="34" charset="0"/>
                <a:ea typeface="Calibri" pitchFamily="34" charset="-122"/>
                <a:cs typeface="Calibri" pitchFamily="34" charset="-120"/>
              </a:rPr>
              <a:t>yt-dlp, ffmpeg, pydub</a:t>
            </a:r>
            <a:endParaRPr lang="en-US" sz="1400" dirty="0"/>
          </a:p>
        </p:txBody>
      </p:sp>
      <p:sp>
        <p:nvSpPr>
          <p:cNvPr id="11" name="Shape 9"/>
          <p:cNvSpPr/>
          <p:nvPr/>
        </p:nvSpPr>
        <p:spPr>
          <a:xfrm>
            <a:off x="548640" y="2505456"/>
            <a:ext cx="73152" cy="384048"/>
          </a:xfrm>
          <a:prstGeom prst="rect">
            <a:avLst/>
          </a:prstGeom>
          <a:solidFill>
            <a:srgbClr val="FF9B54"/>
          </a:solidFill>
          <a:ln w="12700">
            <a:solidFill>
              <a:srgbClr val="FF9B54"/>
            </a:solidFill>
            <a:prstDash val="solid"/>
          </a:ln>
        </p:spPr>
      </p:sp>
      <p:sp>
        <p:nvSpPr>
          <p:cNvPr id="12" name="Text 10"/>
          <p:cNvSpPr txBox="1"/>
          <p:nvPr/>
        </p:nvSpPr>
        <p:spPr>
          <a:xfrm>
            <a:off x="777240" y="2505456"/>
            <a:ext cx="2011680" cy="384048"/>
          </a:xfrm>
          <a:prstGeom prst="rect">
            <a:avLst/>
          </a:prstGeom>
          <a:noFill/>
          <a:ln/>
        </p:spPr>
        <p:txBody>
          <a:bodyPr wrap="square" lIns="0" tIns="0" rIns="0" bIns="0" rtlCol="0" anchor="ctr"/>
          <a:lstStyle/>
          <a:p>
            <a:pPr indent="0" marL="0">
              <a:buNone/>
            </a:pPr>
            <a:r>
              <a:rPr lang="en-US" sz="1500" b="1" dirty="0">
                <a:solidFill>
                  <a:srgbClr val="E8ECF8"/>
                </a:solidFill>
                <a:latin typeface="Georgia" pitchFamily="34" charset="0"/>
                <a:ea typeface="Georgia" pitchFamily="34" charset="-122"/>
                <a:cs typeface="Georgia" pitchFamily="34" charset="-120"/>
              </a:rPr>
              <a:t>Speech to text</a:t>
            </a:r>
            <a:endParaRPr lang="en-US" sz="1500" dirty="0"/>
          </a:p>
        </p:txBody>
      </p:sp>
      <p:sp>
        <p:nvSpPr>
          <p:cNvPr id="13" name="Text 11"/>
          <p:cNvSpPr txBox="1"/>
          <p:nvPr/>
        </p:nvSpPr>
        <p:spPr>
          <a:xfrm>
            <a:off x="2834640" y="2505456"/>
            <a:ext cx="5760720" cy="384048"/>
          </a:xfrm>
          <a:prstGeom prst="rect">
            <a:avLst/>
          </a:prstGeom>
          <a:noFill/>
          <a:ln/>
        </p:spPr>
        <p:txBody>
          <a:bodyPr wrap="square" lIns="0" tIns="0" rIns="0" bIns="0" rtlCol="0" anchor="ctr"/>
          <a:lstStyle/>
          <a:p>
            <a:pPr indent="0" marL="0">
              <a:buNone/>
            </a:pPr>
            <a:r>
              <a:rPr lang="en-US" sz="1400" dirty="0">
                <a:solidFill>
                  <a:srgbClr val="9AA3C0"/>
                </a:solidFill>
                <a:latin typeface="Calibri" pitchFamily="34" charset="0"/>
                <a:ea typeface="Calibri" pitchFamily="34" charset="-122"/>
                <a:cs typeface="Calibri" pitchFamily="34" charset="-120"/>
              </a:rPr>
              <a:t>OpenAI Whisper, Sarvam AI</a:t>
            </a:r>
            <a:endParaRPr lang="en-US" sz="1400" dirty="0"/>
          </a:p>
        </p:txBody>
      </p:sp>
      <p:sp>
        <p:nvSpPr>
          <p:cNvPr id="14" name="Shape 12"/>
          <p:cNvSpPr/>
          <p:nvPr/>
        </p:nvSpPr>
        <p:spPr>
          <a:xfrm>
            <a:off x="548640" y="3026664"/>
            <a:ext cx="73152" cy="384048"/>
          </a:xfrm>
          <a:prstGeom prst="rect">
            <a:avLst/>
          </a:prstGeom>
          <a:solidFill>
            <a:srgbClr val="FF4D8D"/>
          </a:solidFill>
          <a:ln w="12700">
            <a:solidFill>
              <a:srgbClr val="FF4D8D"/>
            </a:solidFill>
            <a:prstDash val="solid"/>
          </a:ln>
        </p:spPr>
      </p:sp>
      <p:sp>
        <p:nvSpPr>
          <p:cNvPr id="15" name="Text 13"/>
          <p:cNvSpPr txBox="1"/>
          <p:nvPr/>
        </p:nvSpPr>
        <p:spPr>
          <a:xfrm>
            <a:off x="777240" y="3026664"/>
            <a:ext cx="2011680" cy="384048"/>
          </a:xfrm>
          <a:prstGeom prst="rect">
            <a:avLst/>
          </a:prstGeom>
          <a:noFill/>
          <a:ln/>
        </p:spPr>
        <p:txBody>
          <a:bodyPr wrap="square" lIns="0" tIns="0" rIns="0" bIns="0" rtlCol="0" anchor="ctr"/>
          <a:lstStyle/>
          <a:p>
            <a:pPr indent="0" marL="0">
              <a:buNone/>
            </a:pPr>
            <a:r>
              <a:rPr lang="en-US" sz="1500" b="1" dirty="0">
                <a:solidFill>
                  <a:srgbClr val="E8ECF8"/>
                </a:solidFill>
                <a:latin typeface="Georgia" pitchFamily="34" charset="0"/>
                <a:ea typeface="Georgia" pitchFamily="34" charset="-122"/>
                <a:cs typeface="Georgia" pitchFamily="34" charset="-120"/>
              </a:rPr>
              <a:t>LLM</a:t>
            </a:r>
            <a:endParaRPr lang="en-US" sz="1500" dirty="0"/>
          </a:p>
        </p:txBody>
      </p:sp>
      <p:sp>
        <p:nvSpPr>
          <p:cNvPr id="16" name="Text 14"/>
          <p:cNvSpPr txBox="1"/>
          <p:nvPr/>
        </p:nvSpPr>
        <p:spPr>
          <a:xfrm>
            <a:off x="2834640" y="3026664"/>
            <a:ext cx="5760720" cy="384048"/>
          </a:xfrm>
          <a:prstGeom prst="rect">
            <a:avLst/>
          </a:prstGeom>
          <a:noFill/>
          <a:ln/>
        </p:spPr>
        <p:txBody>
          <a:bodyPr wrap="square" lIns="0" tIns="0" rIns="0" bIns="0" rtlCol="0" anchor="ctr"/>
          <a:lstStyle/>
          <a:p>
            <a:pPr indent="0" marL="0">
              <a:buNone/>
            </a:pPr>
            <a:r>
              <a:rPr lang="en-US" sz="1400" dirty="0">
                <a:solidFill>
                  <a:srgbClr val="9AA3C0"/>
                </a:solidFill>
                <a:latin typeface="Calibri" pitchFamily="34" charset="0"/>
                <a:ea typeface="Calibri" pitchFamily="34" charset="-122"/>
                <a:cs typeface="Calibri" pitchFamily="34" charset="-120"/>
              </a:rPr>
              <a:t>Mistral AI through LangChain</a:t>
            </a:r>
            <a:endParaRPr lang="en-US" sz="1400" dirty="0"/>
          </a:p>
        </p:txBody>
      </p:sp>
      <p:sp>
        <p:nvSpPr>
          <p:cNvPr id="17" name="Shape 15"/>
          <p:cNvSpPr/>
          <p:nvPr/>
        </p:nvSpPr>
        <p:spPr>
          <a:xfrm>
            <a:off x="548640" y="3547872"/>
            <a:ext cx="73152" cy="384048"/>
          </a:xfrm>
          <a:prstGeom prst="rect">
            <a:avLst/>
          </a:prstGeom>
          <a:solidFill>
            <a:srgbClr val="4ADE9A"/>
          </a:solidFill>
          <a:ln w="12700">
            <a:solidFill>
              <a:srgbClr val="4ADE9A"/>
            </a:solidFill>
            <a:prstDash val="solid"/>
          </a:ln>
        </p:spPr>
      </p:sp>
      <p:sp>
        <p:nvSpPr>
          <p:cNvPr id="18" name="Text 16"/>
          <p:cNvSpPr txBox="1"/>
          <p:nvPr/>
        </p:nvSpPr>
        <p:spPr>
          <a:xfrm>
            <a:off x="777240" y="3547872"/>
            <a:ext cx="2011680" cy="384048"/>
          </a:xfrm>
          <a:prstGeom prst="rect">
            <a:avLst/>
          </a:prstGeom>
          <a:noFill/>
          <a:ln/>
        </p:spPr>
        <p:txBody>
          <a:bodyPr wrap="square" lIns="0" tIns="0" rIns="0" bIns="0" rtlCol="0" anchor="ctr"/>
          <a:lstStyle/>
          <a:p>
            <a:pPr indent="0" marL="0">
              <a:buNone/>
            </a:pPr>
            <a:r>
              <a:rPr lang="en-US" sz="1500" b="1" dirty="0">
                <a:solidFill>
                  <a:srgbClr val="E8ECF8"/>
                </a:solidFill>
                <a:latin typeface="Georgia" pitchFamily="34" charset="0"/>
                <a:ea typeface="Georgia" pitchFamily="34" charset="-122"/>
                <a:cs typeface="Georgia" pitchFamily="34" charset="-120"/>
              </a:rPr>
              <a:t>Retrieval</a:t>
            </a:r>
            <a:endParaRPr lang="en-US" sz="1500" dirty="0"/>
          </a:p>
        </p:txBody>
      </p:sp>
      <p:sp>
        <p:nvSpPr>
          <p:cNvPr id="19" name="Text 17"/>
          <p:cNvSpPr txBox="1"/>
          <p:nvPr/>
        </p:nvSpPr>
        <p:spPr>
          <a:xfrm>
            <a:off x="2834640" y="3547872"/>
            <a:ext cx="5760720" cy="384048"/>
          </a:xfrm>
          <a:prstGeom prst="rect">
            <a:avLst/>
          </a:prstGeom>
          <a:noFill/>
          <a:ln/>
        </p:spPr>
        <p:txBody>
          <a:bodyPr wrap="square" lIns="0" tIns="0" rIns="0" bIns="0" rtlCol="0" anchor="ctr"/>
          <a:lstStyle/>
          <a:p>
            <a:pPr indent="0" marL="0">
              <a:buNone/>
            </a:pPr>
            <a:r>
              <a:rPr lang="en-US" sz="1400" dirty="0">
                <a:solidFill>
                  <a:srgbClr val="9AA3C0"/>
                </a:solidFill>
                <a:latin typeface="Calibri" pitchFamily="34" charset="0"/>
                <a:ea typeface="Calibri" pitchFamily="34" charset="-122"/>
                <a:cs typeface="Calibri" pitchFamily="34" charset="-120"/>
              </a:rPr>
              <a:t>sentence-transformers (all-MiniLM-L6-v2) and ChromaDB</a:t>
            </a:r>
            <a:endParaRPr lang="en-US" sz="1400" dirty="0"/>
          </a:p>
        </p:txBody>
      </p:sp>
      <p:sp>
        <p:nvSpPr>
          <p:cNvPr id="20" name="Shape 18"/>
          <p:cNvSpPr/>
          <p:nvPr/>
        </p:nvSpPr>
        <p:spPr>
          <a:xfrm>
            <a:off x="548640" y="4069080"/>
            <a:ext cx="73152" cy="384048"/>
          </a:xfrm>
          <a:prstGeom prst="rect">
            <a:avLst/>
          </a:prstGeom>
          <a:solidFill>
            <a:srgbClr val="6D5BFF"/>
          </a:solidFill>
          <a:ln w="12700">
            <a:solidFill>
              <a:srgbClr val="6D5BFF"/>
            </a:solidFill>
            <a:prstDash val="solid"/>
          </a:ln>
        </p:spPr>
      </p:sp>
      <p:sp>
        <p:nvSpPr>
          <p:cNvPr id="21" name="Text 19"/>
          <p:cNvSpPr txBox="1"/>
          <p:nvPr/>
        </p:nvSpPr>
        <p:spPr>
          <a:xfrm>
            <a:off x="777240" y="4069080"/>
            <a:ext cx="2011680" cy="384048"/>
          </a:xfrm>
          <a:prstGeom prst="rect">
            <a:avLst/>
          </a:prstGeom>
          <a:noFill/>
          <a:ln/>
        </p:spPr>
        <p:txBody>
          <a:bodyPr wrap="square" lIns="0" tIns="0" rIns="0" bIns="0" rtlCol="0" anchor="ctr"/>
          <a:lstStyle/>
          <a:p>
            <a:pPr indent="0" marL="0">
              <a:buNone/>
            </a:pPr>
            <a:r>
              <a:rPr lang="en-US" sz="1500" b="1" dirty="0">
                <a:solidFill>
                  <a:srgbClr val="E8ECF8"/>
                </a:solidFill>
                <a:latin typeface="Georgia" pitchFamily="34" charset="0"/>
                <a:ea typeface="Georgia" pitchFamily="34" charset="-122"/>
                <a:cs typeface="Georgia" pitchFamily="34" charset="-120"/>
              </a:rPr>
              <a:t>Deployment</a:t>
            </a:r>
            <a:endParaRPr lang="en-US" sz="1500" dirty="0"/>
          </a:p>
        </p:txBody>
      </p:sp>
      <p:sp>
        <p:nvSpPr>
          <p:cNvPr id="22" name="Text 20"/>
          <p:cNvSpPr txBox="1"/>
          <p:nvPr/>
        </p:nvSpPr>
        <p:spPr>
          <a:xfrm>
            <a:off x="2834640" y="4069080"/>
            <a:ext cx="5760720" cy="384048"/>
          </a:xfrm>
          <a:prstGeom prst="rect">
            <a:avLst/>
          </a:prstGeom>
          <a:noFill/>
          <a:ln/>
        </p:spPr>
        <p:txBody>
          <a:bodyPr wrap="square" lIns="0" tIns="0" rIns="0" bIns="0" rtlCol="0" anchor="ctr"/>
          <a:lstStyle/>
          <a:p>
            <a:pPr indent="0" marL="0">
              <a:buNone/>
            </a:pPr>
            <a:r>
              <a:rPr lang="en-US" sz="1400" dirty="0">
                <a:solidFill>
                  <a:srgbClr val="9AA3C0"/>
                </a:solidFill>
                <a:latin typeface="Calibri" pitchFamily="34" charset="0"/>
                <a:ea typeface="Calibri" pitchFamily="34" charset="-122"/>
                <a:cs typeface="Calibri" pitchFamily="34" charset="-120"/>
              </a:rPr>
              <a:t>Streamlit Community Cloud and GitHub</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D5BFF"/>
          </a:solidFill>
          <a:ln w="12700">
            <a:solidFill>
              <a:srgbClr val="6D5BFF"/>
            </a:solidFill>
            <a:prstDash val="solid"/>
          </a:ln>
        </p:spPr>
      </p:sp>
      <p:sp>
        <p:nvSpPr>
          <p:cNvPr id="3" name="Text 1"/>
          <p:cNvSpPr txBox="1"/>
          <p:nvPr/>
        </p:nvSpPr>
        <p:spPr>
          <a:xfrm>
            <a:off x="548640" y="320040"/>
            <a:ext cx="8046720" cy="274320"/>
          </a:xfrm>
          <a:prstGeom prst="rect">
            <a:avLst/>
          </a:prstGeom>
          <a:noFill/>
          <a:ln/>
        </p:spPr>
        <p:txBody>
          <a:bodyPr wrap="square" lIns="0" tIns="0" rIns="0" bIns="0" rtlCol="0" anchor="ctr"/>
          <a:lstStyle/>
          <a:p>
            <a:pPr indent="0" marL="0">
              <a:buNone/>
            </a:pPr>
            <a:r>
              <a:rPr lang="en-US" sz="1200" b="1" spc="300" kern="0" dirty="0">
                <a:solidFill>
                  <a:srgbClr val="FF4D8D"/>
                </a:solidFill>
                <a:latin typeface="Calibri" pitchFamily="34" charset="0"/>
                <a:ea typeface="Calibri" pitchFamily="34" charset="-122"/>
                <a:cs typeface="Calibri" pitchFamily="34" charset="-120"/>
              </a:rPr>
              <a:t>IN PRACTICE</a:t>
            </a:r>
            <a:endParaRPr lang="en-US" sz="1200" dirty="0"/>
          </a:p>
        </p:txBody>
      </p:sp>
      <p:sp>
        <p:nvSpPr>
          <p:cNvPr id="4" name="Text 2"/>
          <p:cNvSpPr txBox="1"/>
          <p:nvPr/>
        </p:nvSpPr>
        <p:spPr>
          <a:xfrm>
            <a:off x="548640" y="594360"/>
            <a:ext cx="8046720" cy="640080"/>
          </a:xfrm>
          <a:prstGeom prst="rect">
            <a:avLst/>
          </a:prstGeom>
          <a:noFill/>
          <a:ln/>
        </p:spPr>
        <p:txBody>
          <a:bodyPr wrap="square" lIns="0" tIns="0" rIns="0" bIns="0" rtlCol="0" anchor="ctr"/>
          <a:lstStyle/>
          <a:p>
            <a:pPr indent="0" marL="0">
              <a:buNone/>
            </a:pPr>
            <a:r>
              <a:rPr lang="en-US" sz="3000" b="1" dirty="0">
                <a:solidFill>
                  <a:srgbClr val="E8ECF8"/>
                </a:solidFill>
                <a:latin typeface="Georgia" pitchFamily="34" charset="0"/>
                <a:ea typeface="Georgia" pitchFamily="34" charset="-122"/>
                <a:cs typeface="Georgia" pitchFamily="34" charset="-120"/>
              </a:rPr>
              <a:t>Running and deploying</a:t>
            </a:r>
            <a:endParaRPr lang="en-US" sz="3000" dirty="0"/>
          </a:p>
        </p:txBody>
      </p:sp>
      <p:sp>
        <p:nvSpPr>
          <p:cNvPr id="5" name="Shape 3"/>
          <p:cNvSpPr/>
          <p:nvPr/>
        </p:nvSpPr>
        <p:spPr>
          <a:xfrm>
            <a:off x="548640" y="1463040"/>
            <a:ext cx="3931920" cy="2926080"/>
          </a:xfrm>
          <a:prstGeom prst="roundRect">
            <a:avLst>
              <a:gd name="adj" fmla="val 3125"/>
            </a:avLst>
          </a:prstGeom>
          <a:solidFill>
            <a:srgbClr val="151B33"/>
          </a:solidFill>
          <a:ln w="12700">
            <a:solidFill>
              <a:srgbClr val="262E52"/>
            </a:solidFill>
            <a:prstDash val="solid"/>
          </a:ln>
        </p:spPr>
      </p:sp>
      <p:sp>
        <p:nvSpPr>
          <p:cNvPr id="6" name="Shape 4"/>
          <p:cNvSpPr/>
          <p:nvPr/>
        </p:nvSpPr>
        <p:spPr>
          <a:xfrm>
            <a:off x="731520" y="1645920"/>
            <a:ext cx="457200" cy="54864"/>
          </a:xfrm>
          <a:prstGeom prst="rect">
            <a:avLst/>
          </a:prstGeom>
          <a:solidFill>
            <a:srgbClr val="6D5BFF"/>
          </a:solidFill>
          <a:ln w="12700">
            <a:solidFill>
              <a:srgbClr val="6D5BFF"/>
            </a:solidFill>
            <a:prstDash val="solid"/>
          </a:ln>
        </p:spPr>
      </p:sp>
      <p:sp>
        <p:nvSpPr>
          <p:cNvPr id="7" name="Text 5"/>
          <p:cNvSpPr txBox="1"/>
          <p:nvPr/>
        </p:nvSpPr>
        <p:spPr>
          <a:xfrm>
            <a:off x="731520" y="1783080"/>
            <a:ext cx="3566160" cy="365760"/>
          </a:xfrm>
          <a:prstGeom prst="rect">
            <a:avLst/>
          </a:prstGeom>
          <a:noFill/>
          <a:ln/>
        </p:spPr>
        <p:txBody>
          <a:bodyPr wrap="square" lIns="0" tIns="0" rIns="0" bIns="0" rtlCol="0" anchor="ctr"/>
          <a:lstStyle/>
          <a:p>
            <a:pPr indent="0" marL="0">
              <a:buNone/>
            </a:pPr>
            <a:r>
              <a:rPr lang="en-US" sz="1600" b="1" dirty="0">
                <a:solidFill>
                  <a:srgbClr val="E8ECF8"/>
                </a:solidFill>
                <a:latin typeface="Georgia" pitchFamily="34" charset="0"/>
                <a:ea typeface="Georgia" pitchFamily="34" charset="-122"/>
                <a:cs typeface="Georgia" pitchFamily="34" charset="-120"/>
              </a:rPr>
              <a:t>Run it</a:t>
            </a:r>
            <a:endParaRPr lang="en-US" sz="1600" dirty="0"/>
          </a:p>
        </p:txBody>
      </p:sp>
      <p:sp>
        <p:nvSpPr>
          <p:cNvPr id="8" name="Text 6"/>
          <p:cNvSpPr txBox="1"/>
          <p:nvPr/>
        </p:nvSpPr>
        <p:spPr>
          <a:xfrm>
            <a:off x="731520" y="2194560"/>
            <a:ext cx="3566160" cy="2057400"/>
          </a:xfrm>
          <a:prstGeom prst="rect">
            <a:avLst/>
          </a:prstGeom>
          <a:noFill/>
          <a:ln/>
        </p:spPr>
        <p:txBody>
          <a:bodyPr wrap="square" lIns="0" tIns="0" rIns="0" bIns="0" rtlCol="0" anchor="t"/>
          <a:lstStyle/>
          <a:p>
            <a:pPr indent="0" marL="0">
              <a:buNone/>
            </a:pPr>
            <a:r>
              <a:rPr lang="en-US" sz="1600" dirty="0">
                <a:solidFill>
                  <a:srgbClr val="9AA3C0"/>
                </a:solidFill>
                <a:latin typeface="Calibri" pitchFamily="34" charset="0"/>
                <a:ea typeface="Calibri" pitchFamily="34" charset="-122"/>
                <a:cs typeface="Calibri" pitchFamily="34" charset="-120"/>
              </a:rPr>
              <a:t>1. Install Python 3.11 and ffmpeg</a:t>
            </a:r>
            <a:endParaRPr lang="en-US" sz="1600" dirty="0"/>
          </a:p>
          <a:p>
            <a:pPr indent="0" marL="0">
              <a:buNone/>
            </a:pPr>
            <a:r>
              <a:rPr lang="en-US" sz="1600" dirty="0">
                <a:solidFill>
                  <a:srgbClr val="9AA3C0"/>
                </a:solidFill>
                <a:latin typeface="Calibri" pitchFamily="34" charset="0"/>
                <a:ea typeface="Calibri" pitchFamily="34" charset="-122"/>
                <a:cs typeface="Calibri" pitchFamily="34" charset="-120"/>
              </a:rPr>
              <a:t>2. pip install -r requirements.txt</a:t>
            </a:r>
            <a:endParaRPr lang="en-US" sz="1600" dirty="0"/>
          </a:p>
          <a:p>
            <a:pPr indent="0" marL="0">
              <a:buNone/>
            </a:pPr>
            <a:r>
              <a:rPr lang="en-US" sz="1600" dirty="0">
                <a:solidFill>
                  <a:srgbClr val="9AA3C0"/>
                </a:solidFill>
                <a:latin typeface="Calibri" pitchFamily="34" charset="0"/>
                <a:ea typeface="Calibri" pitchFamily="34" charset="-122"/>
                <a:cs typeface="Calibri" pitchFamily="34" charset="-120"/>
              </a:rPr>
              <a:t>3. Add MISTRAL_API_KEY and SARVAM_API_KEY to a .env file</a:t>
            </a:r>
            <a:endParaRPr lang="en-US" sz="1600" dirty="0"/>
          </a:p>
          <a:p>
            <a:pPr indent="0" marL="0">
              <a:buNone/>
            </a:pPr>
            <a:r>
              <a:rPr lang="en-US" sz="1600" dirty="0">
                <a:solidFill>
                  <a:srgbClr val="9AA3C0"/>
                </a:solidFill>
                <a:latin typeface="Calibri" pitchFamily="34" charset="0"/>
                <a:ea typeface="Calibri" pitchFamily="34" charset="-122"/>
                <a:cs typeface="Calibri" pitchFamily="34" charset="-120"/>
              </a:rPr>
              <a:t>4. streamlit run app.py</a:t>
            </a:r>
            <a:endParaRPr lang="en-US" sz="1600" dirty="0"/>
          </a:p>
        </p:txBody>
      </p:sp>
      <p:sp>
        <p:nvSpPr>
          <p:cNvPr id="9" name="Shape 7"/>
          <p:cNvSpPr/>
          <p:nvPr/>
        </p:nvSpPr>
        <p:spPr>
          <a:xfrm>
            <a:off x="4663440" y="1463040"/>
            <a:ext cx="3931920" cy="2926080"/>
          </a:xfrm>
          <a:prstGeom prst="roundRect">
            <a:avLst>
              <a:gd name="adj" fmla="val 3125"/>
            </a:avLst>
          </a:prstGeom>
          <a:solidFill>
            <a:srgbClr val="151B33"/>
          </a:solidFill>
          <a:ln w="12700">
            <a:solidFill>
              <a:srgbClr val="262E52"/>
            </a:solidFill>
            <a:prstDash val="solid"/>
          </a:ln>
        </p:spPr>
      </p:sp>
      <p:sp>
        <p:nvSpPr>
          <p:cNvPr id="10" name="Shape 8"/>
          <p:cNvSpPr/>
          <p:nvPr/>
        </p:nvSpPr>
        <p:spPr>
          <a:xfrm>
            <a:off x="4846320" y="1645920"/>
            <a:ext cx="457200" cy="54864"/>
          </a:xfrm>
          <a:prstGeom prst="rect">
            <a:avLst/>
          </a:prstGeom>
          <a:solidFill>
            <a:srgbClr val="FF9B54"/>
          </a:solidFill>
          <a:ln w="12700">
            <a:solidFill>
              <a:srgbClr val="FF9B54"/>
            </a:solidFill>
            <a:prstDash val="solid"/>
          </a:ln>
        </p:spPr>
      </p:sp>
      <p:sp>
        <p:nvSpPr>
          <p:cNvPr id="11" name="Text 9"/>
          <p:cNvSpPr txBox="1"/>
          <p:nvPr/>
        </p:nvSpPr>
        <p:spPr>
          <a:xfrm>
            <a:off x="4846320" y="1783080"/>
            <a:ext cx="3566160" cy="365760"/>
          </a:xfrm>
          <a:prstGeom prst="rect">
            <a:avLst/>
          </a:prstGeom>
          <a:noFill/>
          <a:ln/>
        </p:spPr>
        <p:txBody>
          <a:bodyPr wrap="square" lIns="0" tIns="0" rIns="0" bIns="0" rtlCol="0" anchor="ctr"/>
          <a:lstStyle/>
          <a:p>
            <a:pPr indent="0" marL="0">
              <a:buNone/>
            </a:pPr>
            <a:r>
              <a:rPr lang="en-US" sz="1600" b="1" dirty="0">
                <a:solidFill>
                  <a:srgbClr val="E8ECF8"/>
                </a:solidFill>
                <a:latin typeface="Georgia" pitchFamily="34" charset="0"/>
                <a:ea typeface="Georgia" pitchFamily="34" charset="-122"/>
                <a:cs typeface="Georgia" pitchFamily="34" charset="-120"/>
              </a:rPr>
              <a:t>Known limits</a:t>
            </a:r>
            <a:endParaRPr lang="en-US" sz="1600" dirty="0"/>
          </a:p>
        </p:txBody>
      </p:sp>
      <p:sp>
        <p:nvSpPr>
          <p:cNvPr id="12" name="Text 10"/>
          <p:cNvSpPr txBox="1"/>
          <p:nvPr/>
        </p:nvSpPr>
        <p:spPr>
          <a:xfrm>
            <a:off x="4846320" y="2194560"/>
            <a:ext cx="3566160" cy="2057400"/>
          </a:xfrm>
          <a:prstGeom prst="rect">
            <a:avLst/>
          </a:prstGeom>
          <a:noFill/>
          <a:ln/>
        </p:spPr>
        <p:txBody>
          <a:bodyPr wrap="square" lIns="0" tIns="0" rIns="0" bIns="0" rtlCol="0" anchor="t"/>
          <a:lstStyle/>
          <a:p>
            <a:pPr indent="0" marL="0">
              <a:buNone/>
            </a:pPr>
            <a:r>
              <a:rPr lang="en-US" sz="1600" dirty="0">
                <a:solidFill>
                  <a:srgbClr val="9AA3C0"/>
                </a:solidFill>
                <a:latin typeface="Calibri" pitchFamily="34" charset="0"/>
                <a:ea typeface="Calibri" pitchFamily="34" charset="-122"/>
                <a:cs typeface="Calibri" pitchFamily="34" charset="-120"/>
              </a:rPr>
              <a:t>YouTube may block cloud servers, so file upload is the reliable path there. Free hosting has limited RAM, so the base Whisper model is used. Chat uses one shared vector store.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D5BFF"/>
          </a:solidFill>
          <a:ln w="12700">
            <a:solidFill>
              <a:srgbClr val="6D5BFF"/>
            </a:solidFill>
            <a:prstDash val="solid"/>
          </a:ln>
        </p:spPr>
      </p:sp>
      <p:sp>
        <p:nvSpPr>
          <p:cNvPr id="3" name="Text 1"/>
          <p:cNvSpPr txBox="1"/>
          <p:nvPr/>
        </p:nvSpPr>
        <p:spPr>
          <a:xfrm>
            <a:off x="548640" y="320040"/>
            <a:ext cx="8046720" cy="274320"/>
          </a:xfrm>
          <a:prstGeom prst="rect">
            <a:avLst/>
          </a:prstGeom>
          <a:noFill/>
          <a:ln/>
        </p:spPr>
        <p:txBody>
          <a:bodyPr wrap="square" lIns="0" tIns="0" rIns="0" bIns="0" rtlCol="0" anchor="ctr"/>
          <a:lstStyle/>
          <a:p>
            <a:pPr indent="0" marL="0">
              <a:buNone/>
            </a:pPr>
            <a:r>
              <a:rPr lang="en-US" sz="1200" b="1" spc="300" kern="0" dirty="0">
                <a:solidFill>
                  <a:srgbClr val="FF4D8D"/>
                </a:solidFill>
                <a:latin typeface="Calibri" pitchFamily="34" charset="0"/>
                <a:ea typeface="Calibri" pitchFamily="34" charset="-122"/>
                <a:cs typeface="Calibri" pitchFamily="34" charset="-120"/>
              </a:rPr>
              <a:t>ROADMAP</a:t>
            </a:r>
            <a:endParaRPr lang="en-US" sz="1200" dirty="0"/>
          </a:p>
        </p:txBody>
      </p:sp>
      <p:sp>
        <p:nvSpPr>
          <p:cNvPr id="4" name="Text 2"/>
          <p:cNvSpPr txBox="1"/>
          <p:nvPr/>
        </p:nvSpPr>
        <p:spPr>
          <a:xfrm>
            <a:off x="548640" y="594360"/>
            <a:ext cx="8046720" cy="640080"/>
          </a:xfrm>
          <a:prstGeom prst="rect">
            <a:avLst/>
          </a:prstGeom>
          <a:noFill/>
          <a:ln/>
        </p:spPr>
        <p:txBody>
          <a:bodyPr wrap="square" lIns="0" tIns="0" rIns="0" bIns="0" rtlCol="0" anchor="ctr"/>
          <a:lstStyle/>
          <a:p>
            <a:pPr indent="0" marL="0">
              <a:buNone/>
            </a:pPr>
            <a:r>
              <a:rPr lang="en-US" sz="3000" b="1" dirty="0">
                <a:solidFill>
                  <a:srgbClr val="E8ECF8"/>
                </a:solidFill>
                <a:latin typeface="Georgia" pitchFamily="34" charset="0"/>
                <a:ea typeface="Georgia" pitchFamily="34" charset="-122"/>
                <a:cs typeface="Georgia" pitchFamily="34" charset="-120"/>
              </a:rPr>
              <a:t>What's next</a:t>
            </a:r>
            <a:endParaRPr lang="en-US" sz="3000" dirty="0"/>
          </a:p>
        </p:txBody>
      </p:sp>
      <p:sp>
        <p:nvSpPr>
          <p:cNvPr id="5" name="Shape 3"/>
          <p:cNvSpPr/>
          <p:nvPr/>
        </p:nvSpPr>
        <p:spPr>
          <a:xfrm>
            <a:off x="548640" y="1554480"/>
            <a:ext cx="8046720" cy="548640"/>
          </a:xfrm>
          <a:prstGeom prst="roundRect">
            <a:avLst>
              <a:gd name="adj" fmla="val 13333"/>
            </a:avLst>
          </a:prstGeom>
          <a:solidFill>
            <a:srgbClr val="151B33"/>
          </a:solidFill>
          <a:ln w="12700">
            <a:solidFill>
              <a:srgbClr val="262E52"/>
            </a:solidFill>
            <a:prstDash val="solid"/>
          </a:ln>
        </p:spPr>
      </p:sp>
      <p:sp>
        <p:nvSpPr>
          <p:cNvPr id="6" name="Shape 4"/>
          <p:cNvSpPr/>
          <p:nvPr/>
        </p:nvSpPr>
        <p:spPr>
          <a:xfrm>
            <a:off x="731520" y="1728216"/>
            <a:ext cx="201168" cy="201168"/>
          </a:xfrm>
          <a:prstGeom prst="ellipse">
            <a:avLst/>
          </a:prstGeom>
          <a:solidFill>
            <a:srgbClr val="6D5BFF"/>
          </a:solidFill>
          <a:ln w="12700">
            <a:solidFill>
              <a:srgbClr val="0B1020"/>
            </a:solidFill>
            <a:prstDash val="solid"/>
          </a:ln>
        </p:spPr>
      </p:sp>
      <p:sp>
        <p:nvSpPr>
          <p:cNvPr id="7" name="Text 5"/>
          <p:cNvSpPr txBox="1"/>
          <p:nvPr/>
        </p:nvSpPr>
        <p:spPr>
          <a:xfrm>
            <a:off x="1143000" y="1554480"/>
            <a:ext cx="7315200" cy="548640"/>
          </a:xfrm>
          <a:prstGeom prst="rect">
            <a:avLst/>
          </a:prstGeom>
          <a:noFill/>
          <a:ln/>
        </p:spPr>
        <p:txBody>
          <a:bodyPr wrap="square" lIns="0" tIns="0" rIns="0" bIns="0" rtlCol="0" anchor="ctr"/>
          <a:lstStyle/>
          <a:p>
            <a:pPr indent="0" marL="0">
              <a:buNone/>
            </a:pPr>
            <a:r>
              <a:rPr lang="en-US" sz="1600" dirty="0">
                <a:solidFill>
                  <a:srgbClr val="E8ECF8"/>
                </a:solidFill>
                <a:latin typeface="Calibri" pitchFamily="34" charset="0"/>
                <a:ea typeface="Calibri" pitchFamily="34" charset="-122"/>
                <a:cs typeface="Calibri" pitchFamily="34" charset="-120"/>
              </a:rPr>
              <a:t>Separate chat memory for each video</a:t>
            </a:r>
            <a:endParaRPr lang="en-US" sz="1600" dirty="0"/>
          </a:p>
        </p:txBody>
      </p:sp>
      <p:sp>
        <p:nvSpPr>
          <p:cNvPr id="8" name="Shape 6"/>
          <p:cNvSpPr/>
          <p:nvPr/>
        </p:nvSpPr>
        <p:spPr>
          <a:xfrm>
            <a:off x="548640" y="2240280"/>
            <a:ext cx="8046720" cy="548640"/>
          </a:xfrm>
          <a:prstGeom prst="roundRect">
            <a:avLst>
              <a:gd name="adj" fmla="val 13333"/>
            </a:avLst>
          </a:prstGeom>
          <a:solidFill>
            <a:srgbClr val="151B33"/>
          </a:solidFill>
          <a:ln w="12700">
            <a:solidFill>
              <a:srgbClr val="262E52"/>
            </a:solidFill>
            <a:prstDash val="solid"/>
          </a:ln>
        </p:spPr>
      </p:sp>
      <p:sp>
        <p:nvSpPr>
          <p:cNvPr id="9" name="Shape 7"/>
          <p:cNvSpPr/>
          <p:nvPr/>
        </p:nvSpPr>
        <p:spPr>
          <a:xfrm>
            <a:off x="731520" y="2414016"/>
            <a:ext cx="201168" cy="201168"/>
          </a:xfrm>
          <a:prstGeom prst="ellipse">
            <a:avLst/>
          </a:prstGeom>
          <a:solidFill>
            <a:srgbClr val="FF4D8D"/>
          </a:solidFill>
          <a:ln w="12700">
            <a:solidFill>
              <a:srgbClr val="0B1020"/>
            </a:solidFill>
            <a:prstDash val="solid"/>
          </a:ln>
        </p:spPr>
      </p:sp>
      <p:sp>
        <p:nvSpPr>
          <p:cNvPr id="10" name="Text 8"/>
          <p:cNvSpPr txBox="1"/>
          <p:nvPr/>
        </p:nvSpPr>
        <p:spPr>
          <a:xfrm>
            <a:off x="1143000" y="2240280"/>
            <a:ext cx="7315200" cy="548640"/>
          </a:xfrm>
          <a:prstGeom prst="rect">
            <a:avLst/>
          </a:prstGeom>
          <a:noFill/>
          <a:ln/>
        </p:spPr>
        <p:txBody>
          <a:bodyPr wrap="square" lIns="0" tIns="0" rIns="0" bIns="0" rtlCol="0" anchor="ctr"/>
          <a:lstStyle/>
          <a:p>
            <a:pPr indent="0" marL="0">
              <a:buNone/>
            </a:pPr>
            <a:r>
              <a:rPr lang="en-US" sz="1600" dirty="0">
                <a:solidFill>
                  <a:srgbClr val="E8ECF8"/>
                </a:solidFill>
                <a:latin typeface="Calibri" pitchFamily="34" charset="0"/>
                <a:ea typeface="Calibri" pitchFamily="34" charset="-122"/>
                <a:cs typeface="Calibri" pitchFamily="34" charset="-120"/>
              </a:rPr>
              <a:t>Speaker detection (who said what)</a:t>
            </a:r>
            <a:endParaRPr lang="en-US" sz="1600" dirty="0"/>
          </a:p>
        </p:txBody>
      </p:sp>
      <p:sp>
        <p:nvSpPr>
          <p:cNvPr id="11" name="Shape 9"/>
          <p:cNvSpPr/>
          <p:nvPr/>
        </p:nvSpPr>
        <p:spPr>
          <a:xfrm>
            <a:off x="548640" y="2926080"/>
            <a:ext cx="8046720" cy="548640"/>
          </a:xfrm>
          <a:prstGeom prst="roundRect">
            <a:avLst>
              <a:gd name="adj" fmla="val 13333"/>
            </a:avLst>
          </a:prstGeom>
          <a:solidFill>
            <a:srgbClr val="151B33"/>
          </a:solidFill>
          <a:ln w="12700">
            <a:solidFill>
              <a:srgbClr val="262E52"/>
            </a:solidFill>
            <a:prstDash val="solid"/>
          </a:ln>
        </p:spPr>
      </p:sp>
      <p:sp>
        <p:nvSpPr>
          <p:cNvPr id="12" name="Shape 10"/>
          <p:cNvSpPr/>
          <p:nvPr/>
        </p:nvSpPr>
        <p:spPr>
          <a:xfrm>
            <a:off x="731520" y="3099816"/>
            <a:ext cx="201168" cy="201168"/>
          </a:xfrm>
          <a:prstGeom prst="ellipse">
            <a:avLst/>
          </a:prstGeom>
          <a:solidFill>
            <a:srgbClr val="FF9B54"/>
          </a:solidFill>
          <a:ln w="12700">
            <a:solidFill>
              <a:srgbClr val="0B1020"/>
            </a:solidFill>
            <a:prstDash val="solid"/>
          </a:ln>
        </p:spPr>
      </p:sp>
      <p:sp>
        <p:nvSpPr>
          <p:cNvPr id="13" name="Text 11"/>
          <p:cNvSpPr txBox="1"/>
          <p:nvPr/>
        </p:nvSpPr>
        <p:spPr>
          <a:xfrm>
            <a:off x="1143000" y="2926080"/>
            <a:ext cx="7315200" cy="548640"/>
          </a:xfrm>
          <a:prstGeom prst="rect">
            <a:avLst/>
          </a:prstGeom>
          <a:noFill/>
          <a:ln/>
        </p:spPr>
        <p:txBody>
          <a:bodyPr wrap="square" lIns="0" tIns="0" rIns="0" bIns="0" rtlCol="0" anchor="ctr"/>
          <a:lstStyle/>
          <a:p>
            <a:pPr indent="0" marL="0">
              <a:buNone/>
            </a:pPr>
            <a:r>
              <a:rPr lang="en-US" sz="1600" dirty="0">
                <a:solidFill>
                  <a:srgbClr val="E8ECF8"/>
                </a:solidFill>
                <a:latin typeface="Calibri" pitchFamily="34" charset="0"/>
                <a:ea typeface="Calibri" pitchFamily="34" charset="-122"/>
                <a:cs typeface="Calibri" pitchFamily="34" charset="-120"/>
              </a:rPr>
              <a:t>Timestamps in summaries and answers</a:t>
            </a:r>
            <a:endParaRPr lang="en-US" sz="1600" dirty="0"/>
          </a:p>
        </p:txBody>
      </p:sp>
      <p:sp>
        <p:nvSpPr>
          <p:cNvPr id="14" name="Shape 12"/>
          <p:cNvSpPr/>
          <p:nvPr/>
        </p:nvSpPr>
        <p:spPr>
          <a:xfrm>
            <a:off x="548640" y="3611880"/>
            <a:ext cx="8046720" cy="548640"/>
          </a:xfrm>
          <a:prstGeom prst="roundRect">
            <a:avLst>
              <a:gd name="adj" fmla="val 13333"/>
            </a:avLst>
          </a:prstGeom>
          <a:solidFill>
            <a:srgbClr val="151B33"/>
          </a:solidFill>
          <a:ln w="12700">
            <a:solidFill>
              <a:srgbClr val="262E52"/>
            </a:solidFill>
            <a:prstDash val="solid"/>
          </a:ln>
        </p:spPr>
      </p:sp>
      <p:sp>
        <p:nvSpPr>
          <p:cNvPr id="15" name="Shape 13"/>
          <p:cNvSpPr/>
          <p:nvPr/>
        </p:nvSpPr>
        <p:spPr>
          <a:xfrm>
            <a:off x="731520" y="3785616"/>
            <a:ext cx="201168" cy="201168"/>
          </a:xfrm>
          <a:prstGeom prst="ellipse">
            <a:avLst/>
          </a:prstGeom>
          <a:solidFill>
            <a:srgbClr val="4ADE9A"/>
          </a:solidFill>
          <a:ln w="12700">
            <a:solidFill>
              <a:srgbClr val="0B1020"/>
            </a:solidFill>
            <a:prstDash val="solid"/>
          </a:ln>
        </p:spPr>
      </p:sp>
      <p:sp>
        <p:nvSpPr>
          <p:cNvPr id="16" name="Text 14"/>
          <p:cNvSpPr txBox="1"/>
          <p:nvPr/>
        </p:nvSpPr>
        <p:spPr>
          <a:xfrm>
            <a:off x="1143000" y="3611880"/>
            <a:ext cx="7315200" cy="548640"/>
          </a:xfrm>
          <a:prstGeom prst="rect">
            <a:avLst/>
          </a:prstGeom>
          <a:noFill/>
          <a:ln/>
        </p:spPr>
        <p:txBody>
          <a:bodyPr wrap="square" lIns="0" tIns="0" rIns="0" bIns="0" rtlCol="0" anchor="ctr"/>
          <a:lstStyle/>
          <a:p>
            <a:pPr indent="0" marL="0">
              <a:buNone/>
            </a:pPr>
            <a:r>
              <a:rPr lang="en-US" sz="1600" dirty="0">
                <a:solidFill>
                  <a:srgbClr val="E8ECF8"/>
                </a:solidFill>
                <a:latin typeface="Calibri" pitchFamily="34" charset="0"/>
                <a:ea typeface="Calibri" pitchFamily="34" charset="-122"/>
                <a:cs typeface="Calibri" pitchFamily="34" charset="-120"/>
              </a:rPr>
              <a:t>PDF export and more languages</a:t>
            </a:r>
            <a:endParaRPr lang="en-US" sz="1600" dirty="0"/>
          </a:p>
        </p:txBody>
      </p:sp>
      <p:sp>
        <p:nvSpPr>
          <p:cNvPr id="17" name="Text 15"/>
          <p:cNvSpPr txBox="1"/>
          <p:nvPr/>
        </p:nvSpPr>
        <p:spPr>
          <a:xfrm>
            <a:off x="548640" y="4434840"/>
            <a:ext cx="8046720" cy="457200"/>
          </a:xfrm>
          <a:prstGeom prst="rect">
            <a:avLst/>
          </a:prstGeom>
          <a:noFill/>
          <a:ln/>
        </p:spPr>
        <p:txBody>
          <a:bodyPr wrap="square" lIns="0" tIns="0" rIns="0" bIns="0" rtlCol="0" anchor="ctr"/>
          <a:lstStyle/>
          <a:p>
            <a:pPr indent="0" marL="0">
              <a:buNone/>
            </a:pPr>
            <a:r>
              <a:rPr lang="en-US" sz="2200" i="1" dirty="0">
                <a:solidFill>
                  <a:srgbClr val="9AA3C0"/>
                </a:solidFill>
                <a:latin typeface="Georgia" pitchFamily="34" charset="0"/>
                <a:ea typeface="Georgia" pitchFamily="34" charset="-122"/>
                <a:cs typeface="Georg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VidMind - AI Video Assistant</dc:title>
  <dc:subject>PptxGenJS Presentation</dc:subject>
  <dc:creator>VidMind</dc:creator>
  <cp:lastModifiedBy>VidMind</cp:lastModifiedBy>
  <cp:revision>1</cp:revision>
  <dcterms:created xsi:type="dcterms:W3CDTF">2026-10-22T12:03:24Z</dcterms:created>
  <dcterms:modified xsi:type="dcterms:W3CDTF">2026-10-22T12:03:24Z</dcterms:modified>
</cp:coreProperties>
</file>